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handoutMasterIdLst>
    <p:handoutMasterId r:id="rId22"/>
  </p:handoutMasterIdLst>
  <p:sldIdLst>
    <p:sldId id="257" r:id="rId2"/>
    <p:sldId id="258" r:id="rId3"/>
    <p:sldId id="261" r:id="rId4"/>
    <p:sldId id="289" r:id="rId5"/>
    <p:sldId id="303" r:id="rId6"/>
    <p:sldId id="285" r:id="rId7"/>
    <p:sldId id="299" r:id="rId8"/>
    <p:sldId id="300" r:id="rId9"/>
    <p:sldId id="295" r:id="rId10"/>
    <p:sldId id="286" r:id="rId11"/>
    <p:sldId id="290" r:id="rId12"/>
    <p:sldId id="304" r:id="rId13"/>
    <p:sldId id="287" r:id="rId14"/>
    <p:sldId id="292" r:id="rId15"/>
    <p:sldId id="293" r:id="rId16"/>
    <p:sldId id="288" r:id="rId17"/>
    <p:sldId id="294" r:id="rId18"/>
    <p:sldId id="302" r:id="rId19"/>
    <p:sldId id="30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8" autoAdjust="0"/>
    <p:restoredTop sz="90526" autoAdjust="0"/>
  </p:normalViewPr>
  <p:slideViewPr>
    <p:cSldViewPr snapToGrid="0">
      <p:cViewPr varScale="1">
        <p:scale>
          <a:sx n="70" d="100"/>
          <a:sy n="70" d="100"/>
        </p:scale>
        <p:origin x="520" y="4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9" d="100"/>
          <a:sy n="69"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156040-AF98-4F2C-9909-9F2439F6F588}" type="doc">
      <dgm:prSet loTypeId="urn:microsoft.com/office/officeart/2005/8/layout/chevron1" loCatId="process" qsTypeId="urn:microsoft.com/office/officeart/2005/8/quickstyle/simple1" qsCatId="simple" csTypeId="urn:microsoft.com/office/officeart/2005/8/colors/accent1_1" csCatId="accent1" phldr="1"/>
      <dgm:spPr/>
    </dgm:pt>
    <dgm:pt modelId="{74020AF3-C700-4606-8917-C6A353D7963A}">
      <dgm:prSet phldrT="[Text]" custT="1"/>
      <dgm:spPr/>
      <dgm:t>
        <a:bodyPr/>
        <a:lstStyle/>
        <a:p>
          <a:r>
            <a:rPr lang="en-US" sz="1600" dirty="0"/>
            <a:t>Data Review</a:t>
          </a:r>
        </a:p>
      </dgm:t>
      <dgm:extLst>
        <a:ext uri="{E40237B7-FDA0-4F09-8148-C483321AD2D9}">
          <dgm14:cNvPr xmlns:dgm14="http://schemas.microsoft.com/office/drawing/2010/diagram" id="0" name="" title="Step 1 title"/>
        </a:ext>
      </dgm:extLst>
    </dgm:pt>
    <dgm:pt modelId="{87D99D21-0B4A-4259-89FB-0E5941CB535C}" type="parTrans" cxnId="{B0E2386F-A443-4201-8130-FB9CC25AA154}">
      <dgm:prSet/>
      <dgm:spPr/>
      <dgm:t>
        <a:bodyPr/>
        <a:lstStyle/>
        <a:p>
          <a:endParaRPr lang="en-US"/>
        </a:p>
      </dgm:t>
    </dgm:pt>
    <dgm:pt modelId="{6CFF1BD9-AE1F-4488-8B72-01186EADA6FF}" type="sibTrans" cxnId="{B0E2386F-A443-4201-8130-FB9CC25AA154}">
      <dgm:prSet/>
      <dgm:spPr/>
      <dgm:t>
        <a:bodyPr/>
        <a:lstStyle/>
        <a:p>
          <a:endParaRPr lang="en-US"/>
        </a:p>
      </dgm:t>
    </dgm:pt>
    <dgm:pt modelId="{12E26E22-71B0-4386-A84F-ABF2FF66A99F}">
      <dgm:prSet phldrT="[Text]" custT="1"/>
      <dgm:spPr/>
      <dgm:t>
        <a:bodyPr/>
        <a:lstStyle/>
        <a:p>
          <a:r>
            <a:rPr lang="en-US" sz="1600" dirty="0"/>
            <a:t>EDA</a:t>
          </a:r>
          <a:endParaRPr lang="en-US" sz="1300" dirty="0"/>
        </a:p>
      </dgm:t>
      <dgm:extLst>
        <a:ext uri="{E40237B7-FDA0-4F09-8148-C483321AD2D9}">
          <dgm14:cNvPr xmlns:dgm14="http://schemas.microsoft.com/office/drawing/2010/diagram" id="0" name="" title="Step 2 title"/>
        </a:ext>
      </dgm:extLst>
    </dgm:pt>
    <dgm:pt modelId="{3A6CB3CB-0F71-4CA8-93AA-0E3E3D59D313}" type="parTrans" cxnId="{937639B3-2352-48E4-A96B-F63DF2119D92}">
      <dgm:prSet/>
      <dgm:spPr/>
      <dgm:t>
        <a:bodyPr/>
        <a:lstStyle/>
        <a:p>
          <a:endParaRPr lang="en-US"/>
        </a:p>
      </dgm:t>
    </dgm:pt>
    <dgm:pt modelId="{E1826C46-15A2-4345-B986-53D05F21F155}" type="sibTrans" cxnId="{937639B3-2352-48E4-A96B-F63DF2119D92}">
      <dgm:prSet/>
      <dgm:spPr/>
      <dgm:t>
        <a:bodyPr/>
        <a:lstStyle/>
        <a:p>
          <a:endParaRPr lang="en-US"/>
        </a:p>
      </dgm:t>
    </dgm:pt>
    <dgm:pt modelId="{A8B05E70-CCF1-4080-8EEE-6873C9D4B630}">
      <dgm:prSet phldrT="[Text]" custT="1"/>
      <dgm:spPr/>
      <dgm:t>
        <a:bodyPr/>
        <a:lstStyle/>
        <a:p>
          <a:r>
            <a:rPr lang="en-US" sz="1600" dirty="0"/>
            <a:t>Feature Engineering</a:t>
          </a:r>
        </a:p>
      </dgm:t>
      <dgm:extLst>
        <a:ext uri="{E40237B7-FDA0-4F09-8148-C483321AD2D9}">
          <dgm14:cNvPr xmlns:dgm14="http://schemas.microsoft.com/office/drawing/2010/diagram" id="0" name="" title="Step 3 title"/>
        </a:ext>
      </dgm:extLst>
    </dgm:pt>
    <dgm:pt modelId="{11D1F3D3-0002-4131-9F84-22FBF8692DA9}" type="parTrans" cxnId="{B8B909D0-D4F6-48D4-81DA-A58F34AE3646}">
      <dgm:prSet/>
      <dgm:spPr/>
      <dgm:t>
        <a:bodyPr/>
        <a:lstStyle/>
        <a:p>
          <a:endParaRPr lang="en-US"/>
        </a:p>
      </dgm:t>
    </dgm:pt>
    <dgm:pt modelId="{B6438016-7365-4FC0-A372-D90585B4B6EE}" type="sibTrans" cxnId="{B8B909D0-D4F6-48D4-81DA-A58F34AE3646}">
      <dgm:prSet/>
      <dgm:spPr/>
      <dgm:t>
        <a:bodyPr/>
        <a:lstStyle/>
        <a:p>
          <a:endParaRPr lang="en-US"/>
        </a:p>
      </dgm:t>
    </dgm:pt>
    <dgm:pt modelId="{42147153-A6C2-4177-BA7D-2ACCC2C1B2F7}">
      <dgm:prSet phldrT="[Text]" custT="1"/>
      <dgm:spPr/>
      <dgm:t>
        <a:bodyPr/>
        <a:lstStyle/>
        <a:p>
          <a:r>
            <a:rPr lang="en-US" sz="1600" dirty="0"/>
            <a:t>Model Review, Comparison &amp; Interpretation</a:t>
          </a:r>
          <a:endParaRPr lang="en-US" sz="1300" dirty="0"/>
        </a:p>
      </dgm:t>
      <dgm:extLst>
        <a:ext uri="{E40237B7-FDA0-4F09-8148-C483321AD2D9}">
          <dgm14:cNvPr xmlns:dgm14="http://schemas.microsoft.com/office/drawing/2010/diagram" id="0" name="" title="Step 4 title"/>
        </a:ext>
      </dgm:extLst>
    </dgm:pt>
    <dgm:pt modelId="{C6F68745-4C20-4204-96A6-585691399C14}" type="parTrans" cxnId="{777DC3C6-D336-4C94-A624-E5582A07ECAA}">
      <dgm:prSet/>
      <dgm:spPr/>
      <dgm:t>
        <a:bodyPr/>
        <a:lstStyle/>
        <a:p>
          <a:endParaRPr lang="en-US"/>
        </a:p>
      </dgm:t>
    </dgm:pt>
    <dgm:pt modelId="{0C6B132F-0347-46BA-86A4-3FAFB6676411}" type="sibTrans" cxnId="{777DC3C6-D336-4C94-A624-E5582A07ECAA}">
      <dgm:prSet/>
      <dgm:spPr/>
      <dgm:t>
        <a:bodyPr/>
        <a:lstStyle/>
        <a:p>
          <a:endParaRPr lang="en-US"/>
        </a:p>
      </dgm:t>
    </dgm:pt>
    <dgm:pt modelId="{54BBDB1E-063F-4599-AA62-C1D92D223DC3}">
      <dgm:prSet phldrT="[Text]" custT="1"/>
      <dgm:spPr/>
      <dgm:t>
        <a:bodyPr/>
        <a:lstStyle/>
        <a:p>
          <a:r>
            <a:rPr lang="en-US" sz="1600" dirty="0"/>
            <a:t>Recommendations</a:t>
          </a:r>
          <a:endParaRPr lang="en-US" sz="1300" dirty="0"/>
        </a:p>
      </dgm:t>
      <dgm:extLst>
        <a:ext uri="{E40237B7-FDA0-4F09-8148-C483321AD2D9}">
          <dgm14:cNvPr xmlns:dgm14="http://schemas.microsoft.com/office/drawing/2010/diagram" id="0" name="" title="Step 4 title"/>
        </a:ext>
      </dgm:extLst>
    </dgm:pt>
    <dgm:pt modelId="{A950D4CD-94CE-4360-B91F-E9F3F4E39E0F}" type="parTrans" cxnId="{FD6981DF-3540-47B3-A3F8-95A2CAE7A97F}">
      <dgm:prSet/>
      <dgm:spPr/>
      <dgm:t>
        <a:bodyPr/>
        <a:lstStyle/>
        <a:p>
          <a:endParaRPr lang="en-US"/>
        </a:p>
      </dgm:t>
    </dgm:pt>
    <dgm:pt modelId="{28384A29-ACD6-4F6B-BDF1-4920EBF88966}" type="sibTrans" cxnId="{FD6981DF-3540-47B3-A3F8-95A2CAE7A97F}">
      <dgm:prSet/>
      <dgm:spPr/>
      <dgm:t>
        <a:bodyPr/>
        <a:lstStyle/>
        <a:p>
          <a:endParaRPr lang="en-US"/>
        </a:p>
      </dgm:t>
    </dgm:pt>
    <dgm:pt modelId="{1C61A9A2-33F2-469B-8AC4-A104A5A98D78}" type="pres">
      <dgm:prSet presAssocID="{44156040-AF98-4F2C-9909-9F2439F6F588}" presName="Name0" presStyleCnt="0">
        <dgm:presLayoutVars>
          <dgm:dir/>
          <dgm:animLvl val="lvl"/>
          <dgm:resizeHandles val="exact"/>
        </dgm:presLayoutVars>
      </dgm:prSet>
      <dgm:spPr/>
    </dgm:pt>
    <dgm:pt modelId="{881B8FEC-9D20-4669-BB2E-FA9CEA0BE5A9}" type="pres">
      <dgm:prSet presAssocID="{74020AF3-C700-4606-8917-C6A353D7963A}" presName="parTxOnly" presStyleLbl="node1" presStyleIdx="0" presStyleCnt="5" custScaleX="86040">
        <dgm:presLayoutVars>
          <dgm:chMax val="0"/>
          <dgm:chPref val="0"/>
          <dgm:bulletEnabled val="1"/>
        </dgm:presLayoutVars>
      </dgm:prSet>
      <dgm:spPr/>
    </dgm:pt>
    <dgm:pt modelId="{705DFC51-4C30-4A07-9F0C-6EB770961C6F}" type="pres">
      <dgm:prSet presAssocID="{6CFF1BD9-AE1F-4488-8B72-01186EADA6FF}" presName="parTxOnlySpace" presStyleCnt="0"/>
      <dgm:spPr/>
    </dgm:pt>
    <dgm:pt modelId="{919A589F-F74A-40C3-BE88-AB8730BCAB04}" type="pres">
      <dgm:prSet presAssocID="{12E26E22-71B0-4386-A84F-ABF2FF66A99F}" presName="parTxOnly" presStyleLbl="node1" presStyleIdx="1" presStyleCnt="5" custScaleX="73343">
        <dgm:presLayoutVars>
          <dgm:chMax val="0"/>
          <dgm:chPref val="0"/>
          <dgm:bulletEnabled val="1"/>
        </dgm:presLayoutVars>
      </dgm:prSet>
      <dgm:spPr/>
    </dgm:pt>
    <dgm:pt modelId="{01C6BCDE-530E-4D03-9CF5-9AB36CDC1FE1}" type="pres">
      <dgm:prSet presAssocID="{E1826C46-15A2-4345-B986-53D05F21F155}" presName="parTxOnlySpace" presStyleCnt="0"/>
      <dgm:spPr/>
    </dgm:pt>
    <dgm:pt modelId="{268F2328-4548-422B-9C65-80797E16B241}" type="pres">
      <dgm:prSet presAssocID="{A8B05E70-CCF1-4080-8EEE-6873C9D4B630}" presName="parTxOnly" presStyleLbl="node1" presStyleIdx="2" presStyleCnt="5">
        <dgm:presLayoutVars>
          <dgm:chMax val="0"/>
          <dgm:chPref val="0"/>
          <dgm:bulletEnabled val="1"/>
        </dgm:presLayoutVars>
      </dgm:prSet>
      <dgm:spPr/>
    </dgm:pt>
    <dgm:pt modelId="{8CB78EC1-7B74-4B6E-94C6-5F808A049A1F}" type="pres">
      <dgm:prSet presAssocID="{B6438016-7365-4FC0-A372-D90585B4B6EE}" presName="parTxOnlySpace" presStyleCnt="0"/>
      <dgm:spPr/>
    </dgm:pt>
    <dgm:pt modelId="{BDD0B0F7-A87C-4B5B-A4C3-4E4BE6EB0FE4}" type="pres">
      <dgm:prSet presAssocID="{42147153-A6C2-4177-BA7D-2ACCC2C1B2F7}" presName="parTxOnly" presStyleLbl="node1" presStyleIdx="3" presStyleCnt="5">
        <dgm:presLayoutVars>
          <dgm:chMax val="0"/>
          <dgm:chPref val="0"/>
          <dgm:bulletEnabled val="1"/>
        </dgm:presLayoutVars>
      </dgm:prSet>
      <dgm:spPr/>
    </dgm:pt>
    <dgm:pt modelId="{FCCC200A-C11E-4707-83D5-67C5BEDF24FD}" type="pres">
      <dgm:prSet presAssocID="{0C6B132F-0347-46BA-86A4-3FAFB6676411}" presName="parTxOnlySpace" presStyleCnt="0"/>
      <dgm:spPr/>
    </dgm:pt>
    <dgm:pt modelId="{9D181B39-8A6C-4779-AEF3-0371D4E0577F}" type="pres">
      <dgm:prSet presAssocID="{54BBDB1E-063F-4599-AA62-C1D92D223DC3}" presName="parTxOnly" presStyleLbl="node1" presStyleIdx="4" presStyleCnt="5" custScaleX="117213">
        <dgm:presLayoutVars>
          <dgm:chMax val="0"/>
          <dgm:chPref val="0"/>
          <dgm:bulletEnabled val="1"/>
        </dgm:presLayoutVars>
      </dgm:prSet>
      <dgm:spPr/>
    </dgm:pt>
  </dgm:ptLst>
  <dgm:cxnLst>
    <dgm:cxn modelId="{F53B7939-72CC-4A17-9E7A-FD4BA97D5F45}" type="presOf" srcId="{54BBDB1E-063F-4599-AA62-C1D92D223DC3}" destId="{9D181B39-8A6C-4779-AEF3-0371D4E0577F}" srcOrd="0" destOrd="0" presId="urn:microsoft.com/office/officeart/2005/8/layout/chevron1"/>
    <dgm:cxn modelId="{BF4A375F-A05B-45C3-9731-23DBACB9FC02}" type="presOf" srcId="{12E26E22-71B0-4386-A84F-ABF2FF66A99F}" destId="{919A589F-F74A-40C3-BE88-AB8730BCAB04}" srcOrd="0" destOrd="0" presId="urn:microsoft.com/office/officeart/2005/8/layout/chevron1"/>
    <dgm:cxn modelId="{B0E2386F-A443-4201-8130-FB9CC25AA154}" srcId="{44156040-AF98-4F2C-9909-9F2439F6F588}" destId="{74020AF3-C700-4606-8917-C6A353D7963A}" srcOrd="0" destOrd="0" parTransId="{87D99D21-0B4A-4259-89FB-0E5941CB535C}" sibTransId="{6CFF1BD9-AE1F-4488-8B72-01186EADA6FF}"/>
    <dgm:cxn modelId="{BB4F9699-C9DE-46C4-A04B-CD52EF57D4C5}" type="presOf" srcId="{74020AF3-C700-4606-8917-C6A353D7963A}" destId="{881B8FEC-9D20-4669-BB2E-FA9CEA0BE5A9}" srcOrd="0" destOrd="0" presId="urn:microsoft.com/office/officeart/2005/8/layout/chevron1"/>
    <dgm:cxn modelId="{9E75EA9C-2122-47C1-897A-5BBDE8D78AC4}" type="presOf" srcId="{A8B05E70-CCF1-4080-8EEE-6873C9D4B630}" destId="{268F2328-4548-422B-9C65-80797E16B241}" srcOrd="0" destOrd="0" presId="urn:microsoft.com/office/officeart/2005/8/layout/chevron1"/>
    <dgm:cxn modelId="{937639B3-2352-48E4-A96B-F63DF2119D92}" srcId="{44156040-AF98-4F2C-9909-9F2439F6F588}" destId="{12E26E22-71B0-4386-A84F-ABF2FF66A99F}" srcOrd="1" destOrd="0" parTransId="{3A6CB3CB-0F71-4CA8-93AA-0E3E3D59D313}" sibTransId="{E1826C46-15A2-4345-B986-53D05F21F155}"/>
    <dgm:cxn modelId="{37A858B6-D71C-4E86-A467-E8D17167DE19}" type="presOf" srcId="{42147153-A6C2-4177-BA7D-2ACCC2C1B2F7}" destId="{BDD0B0F7-A87C-4B5B-A4C3-4E4BE6EB0FE4}" srcOrd="0" destOrd="0" presId="urn:microsoft.com/office/officeart/2005/8/layout/chevron1"/>
    <dgm:cxn modelId="{777DC3C6-D336-4C94-A624-E5582A07ECAA}" srcId="{44156040-AF98-4F2C-9909-9F2439F6F588}" destId="{42147153-A6C2-4177-BA7D-2ACCC2C1B2F7}" srcOrd="3" destOrd="0" parTransId="{C6F68745-4C20-4204-96A6-585691399C14}" sibTransId="{0C6B132F-0347-46BA-86A4-3FAFB6676411}"/>
    <dgm:cxn modelId="{B8B909D0-D4F6-48D4-81DA-A58F34AE3646}" srcId="{44156040-AF98-4F2C-9909-9F2439F6F588}" destId="{A8B05E70-CCF1-4080-8EEE-6873C9D4B630}" srcOrd="2" destOrd="0" parTransId="{11D1F3D3-0002-4131-9F84-22FBF8692DA9}" sibTransId="{B6438016-7365-4FC0-A372-D90585B4B6EE}"/>
    <dgm:cxn modelId="{FD6981DF-3540-47B3-A3F8-95A2CAE7A97F}" srcId="{44156040-AF98-4F2C-9909-9F2439F6F588}" destId="{54BBDB1E-063F-4599-AA62-C1D92D223DC3}" srcOrd="4" destOrd="0" parTransId="{A950D4CD-94CE-4360-B91F-E9F3F4E39E0F}" sibTransId="{28384A29-ACD6-4F6B-BDF1-4920EBF88966}"/>
    <dgm:cxn modelId="{383A5CFE-2D64-4002-A7C0-1E621409BFD6}" type="presOf" srcId="{44156040-AF98-4F2C-9909-9F2439F6F588}" destId="{1C61A9A2-33F2-469B-8AC4-A104A5A98D78}" srcOrd="0" destOrd="0" presId="urn:microsoft.com/office/officeart/2005/8/layout/chevron1"/>
    <dgm:cxn modelId="{EDA037DE-3D60-46A9-9DDB-074A05981F8D}" type="presParOf" srcId="{1C61A9A2-33F2-469B-8AC4-A104A5A98D78}" destId="{881B8FEC-9D20-4669-BB2E-FA9CEA0BE5A9}" srcOrd="0" destOrd="0" presId="urn:microsoft.com/office/officeart/2005/8/layout/chevron1"/>
    <dgm:cxn modelId="{8F2A48B2-4519-4F7D-931D-1EB2DDCF4663}" type="presParOf" srcId="{1C61A9A2-33F2-469B-8AC4-A104A5A98D78}" destId="{705DFC51-4C30-4A07-9F0C-6EB770961C6F}" srcOrd="1" destOrd="0" presId="urn:microsoft.com/office/officeart/2005/8/layout/chevron1"/>
    <dgm:cxn modelId="{A8C49188-74D0-46A6-A671-569711775D6B}" type="presParOf" srcId="{1C61A9A2-33F2-469B-8AC4-A104A5A98D78}" destId="{919A589F-F74A-40C3-BE88-AB8730BCAB04}" srcOrd="2" destOrd="0" presId="urn:microsoft.com/office/officeart/2005/8/layout/chevron1"/>
    <dgm:cxn modelId="{DF828B00-7F32-4A0D-9D43-9FD5AE3C854B}" type="presParOf" srcId="{1C61A9A2-33F2-469B-8AC4-A104A5A98D78}" destId="{01C6BCDE-530E-4D03-9CF5-9AB36CDC1FE1}" srcOrd="3" destOrd="0" presId="urn:microsoft.com/office/officeart/2005/8/layout/chevron1"/>
    <dgm:cxn modelId="{2FC0E474-8734-4209-BD6D-C297DEE76CB4}" type="presParOf" srcId="{1C61A9A2-33F2-469B-8AC4-A104A5A98D78}" destId="{268F2328-4548-422B-9C65-80797E16B241}" srcOrd="4" destOrd="0" presId="urn:microsoft.com/office/officeart/2005/8/layout/chevron1"/>
    <dgm:cxn modelId="{30A10B48-C159-4CE5-AFE2-9908BF17AD25}" type="presParOf" srcId="{1C61A9A2-33F2-469B-8AC4-A104A5A98D78}" destId="{8CB78EC1-7B74-4B6E-94C6-5F808A049A1F}" srcOrd="5" destOrd="0" presId="urn:microsoft.com/office/officeart/2005/8/layout/chevron1"/>
    <dgm:cxn modelId="{3065F5B9-06B1-4353-A251-703F2693DE95}" type="presParOf" srcId="{1C61A9A2-33F2-469B-8AC4-A104A5A98D78}" destId="{BDD0B0F7-A87C-4B5B-A4C3-4E4BE6EB0FE4}" srcOrd="6" destOrd="0" presId="urn:microsoft.com/office/officeart/2005/8/layout/chevron1"/>
    <dgm:cxn modelId="{1891E530-41C9-4C4A-B1F8-081319B27ACB}" type="presParOf" srcId="{1C61A9A2-33F2-469B-8AC4-A104A5A98D78}" destId="{FCCC200A-C11E-4707-83D5-67C5BEDF24FD}" srcOrd="7" destOrd="0" presId="urn:microsoft.com/office/officeart/2005/8/layout/chevron1"/>
    <dgm:cxn modelId="{C7AA37CA-BAA3-4160-85A9-CD9E92E50DE8}" type="presParOf" srcId="{1C61A9A2-33F2-469B-8AC4-A104A5A98D78}" destId="{9D181B39-8A6C-4779-AEF3-0371D4E0577F}"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B8FEC-9D20-4669-BB2E-FA9CEA0BE5A9}">
      <dsp:nvSpPr>
        <dsp:cNvPr id="0" name=""/>
        <dsp:cNvSpPr/>
      </dsp:nvSpPr>
      <dsp:spPr>
        <a:xfrm>
          <a:off x="975" y="2081664"/>
          <a:ext cx="2157521" cy="1003031"/>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Data Review</a:t>
          </a:r>
        </a:p>
      </dsp:txBody>
      <dsp:txXfrm>
        <a:off x="502491" y="2081664"/>
        <a:ext cx="1154490" cy="1003031"/>
      </dsp:txXfrm>
    </dsp:sp>
    <dsp:sp modelId="{919A589F-F74A-40C3-BE88-AB8730BCAB04}">
      <dsp:nvSpPr>
        <dsp:cNvPr id="0" name=""/>
        <dsp:cNvSpPr/>
      </dsp:nvSpPr>
      <dsp:spPr>
        <a:xfrm>
          <a:off x="1907738" y="2081664"/>
          <a:ext cx="1839133" cy="1003031"/>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EDA</a:t>
          </a:r>
          <a:endParaRPr lang="en-US" sz="1300" kern="1200" dirty="0"/>
        </a:p>
      </dsp:txBody>
      <dsp:txXfrm>
        <a:off x="2409254" y="2081664"/>
        <a:ext cx="836102" cy="1003031"/>
      </dsp:txXfrm>
    </dsp:sp>
    <dsp:sp modelId="{268F2328-4548-422B-9C65-80797E16B241}">
      <dsp:nvSpPr>
        <dsp:cNvPr id="0" name=""/>
        <dsp:cNvSpPr/>
      </dsp:nvSpPr>
      <dsp:spPr>
        <a:xfrm>
          <a:off x="3496114" y="2081664"/>
          <a:ext cx="2507579" cy="1003031"/>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Feature Engineering</a:t>
          </a:r>
        </a:p>
      </dsp:txBody>
      <dsp:txXfrm>
        <a:off x="3997630" y="2081664"/>
        <a:ext cx="1504548" cy="1003031"/>
      </dsp:txXfrm>
    </dsp:sp>
    <dsp:sp modelId="{BDD0B0F7-A87C-4B5B-A4C3-4E4BE6EB0FE4}">
      <dsp:nvSpPr>
        <dsp:cNvPr id="0" name=""/>
        <dsp:cNvSpPr/>
      </dsp:nvSpPr>
      <dsp:spPr>
        <a:xfrm>
          <a:off x="5752935" y="2081664"/>
          <a:ext cx="2507579" cy="1003031"/>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Model Review, Comparison &amp; Interpretation</a:t>
          </a:r>
          <a:endParaRPr lang="en-US" sz="1300" kern="1200" dirty="0"/>
        </a:p>
      </dsp:txBody>
      <dsp:txXfrm>
        <a:off x="6254451" y="2081664"/>
        <a:ext cx="1504548" cy="1003031"/>
      </dsp:txXfrm>
    </dsp:sp>
    <dsp:sp modelId="{9D181B39-8A6C-4779-AEF3-0371D4E0577F}">
      <dsp:nvSpPr>
        <dsp:cNvPr id="0" name=""/>
        <dsp:cNvSpPr/>
      </dsp:nvSpPr>
      <dsp:spPr>
        <a:xfrm>
          <a:off x="8009756" y="2081664"/>
          <a:ext cx="2939208" cy="1003031"/>
        </a:xfrm>
        <a:prstGeom prst="chevron">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Recommendations</a:t>
          </a:r>
          <a:endParaRPr lang="en-US" sz="1300" kern="1200" dirty="0"/>
        </a:p>
      </dsp:txBody>
      <dsp:txXfrm>
        <a:off x="8511272" y="2081664"/>
        <a:ext cx="1936177" cy="100303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3D5444-F62C-42C3-A75A-D9DBA807730F}" type="datetimeFigureOut">
              <a:rPr lang="en-US" smtClean="0"/>
              <a:t>4/19/2024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A4F617-7A30-41D4-AB86-5D833C98E18B}" type="slidenum">
              <a:rPr lang="en-US" smtClean="0"/>
              <a:t>‹#›</a:t>
            </a:fld>
            <a:endParaRPr lang="en-US"/>
          </a:p>
        </p:txBody>
      </p:sp>
    </p:spTree>
    <p:extLst>
      <p:ext uri="{BB962C8B-B14F-4D97-AF65-F5344CB8AC3E}">
        <p14:creationId xmlns:p14="http://schemas.microsoft.com/office/powerpoint/2010/main" val="994624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AA1FA-7B6A-47D2-8D61-F225D71B51FF}" type="datetimeFigureOut">
              <a:rPr lang="en-US" smtClean="0"/>
              <a:t>4/19/2024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A179D-2D27-49E2-B022-8EDDA2EFE682}" type="slidenum">
              <a:rPr lang="en-US" smtClean="0"/>
              <a:t>‹#›</a:t>
            </a:fld>
            <a:endParaRPr lang="en-US"/>
          </a:p>
        </p:txBody>
      </p:sp>
    </p:spTree>
    <p:extLst>
      <p:ext uri="{BB962C8B-B14F-4D97-AF65-F5344CB8AC3E}">
        <p14:creationId xmlns:p14="http://schemas.microsoft.com/office/powerpoint/2010/main" val="1174603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dirty="0">
                <a:latin typeface="Arial" pitchFamily="34" charset="0"/>
                <a:cs typeface="Arial" pitchFamily="34" charset="0"/>
              </a:rPr>
              <a:t>To change the  image on this slide, select the picture and delete it. Then click the Pictures icon in the placeholder to insert your own image.</a:t>
            </a:r>
          </a:p>
          <a:p>
            <a:endParaRPr lang="en-US" dirty="0"/>
          </a:p>
        </p:txBody>
      </p:sp>
      <p:sp>
        <p:nvSpPr>
          <p:cNvPr id="4" name="Slide Number Placeholder 3"/>
          <p:cNvSpPr>
            <a:spLocks noGrp="1"/>
          </p:cNvSpPr>
          <p:nvPr>
            <p:ph type="sldNum" sz="quarter" idx="10"/>
          </p:nvPr>
        </p:nvSpPr>
        <p:spPr/>
        <p:txBody>
          <a:bodyPr/>
          <a:lstStyle/>
          <a:p>
            <a:fld id="{1B9A179D-2D27-49E2-B022-8EDDA2EFE682}" type="slidenum">
              <a:rPr lang="en-US" smtClean="0"/>
              <a:t>1</a:t>
            </a:fld>
            <a:endParaRPr lang="en-US"/>
          </a:p>
        </p:txBody>
      </p:sp>
    </p:spTree>
    <p:extLst>
      <p:ext uri="{BB962C8B-B14F-4D97-AF65-F5344CB8AC3E}">
        <p14:creationId xmlns:p14="http://schemas.microsoft.com/office/powerpoint/2010/main" val="1542422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9A179D-2D27-49E2-B022-8EDDA2EFE682}" type="slidenum">
              <a:rPr lang="en-US" smtClean="0"/>
              <a:t>7</a:t>
            </a:fld>
            <a:endParaRPr lang="en-US"/>
          </a:p>
        </p:txBody>
      </p:sp>
    </p:spTree>
    <p:extLst>
      <p:ext uri="{BB962C8B-B14F-4D97-AF65-F5344CB8AC3E}">
        <p14:creationId xmlns:p14="http://schemas.microsoft.com/office/powerpoint/2010/main" val="251003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9A179D-2D27-49E2-B022-8EDDA2EFE682}" type="slidenum">
              <a:rPr lang="en-US" smtClean="0"/>
              <a:t>8</a:t>
            </a:fld>
            <a:endParaRPr lang="en-US"/>
          </a:p>
        </p:txBody>
      </p:sp>
    </p:spTree>
    <p:extLst>
      <p:ext uri="{BB962C8B-B14F-4D97-AF65-F5344CB8AC3E}">
        <p14:creationId xmlns:p14="http://schemas.microsoft.com/office/powerpoint/2010/main" val="292030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9A179D-2D27-49E2-B022-8EDDA2EFE682}" type="slidenum">
              <a:rPr lang="en-US" smtClean="0"/>
              <a:t>9</a:t>
            </a:fld>
            <a:endParaRPr lang="en-US"/>
          </a:p>
        </p:txBody>
      </p:sp>
    </p:spTree>
    <p:extLst>
      <p:ext uri="{BB962C8B-B14F-4D97-AF65-F5344CB8AC3E}">
        <p14:creationId xmlns:p14="http://schemas.microsoft.com/office/powerpoint/2010/main" val="23978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9A179D-2D27-49E2-B022-8EDDA2EFE682}" type="slidenum">
              <a:rPr lang="en-US" smtClean="0"/>
              <a:t>12</a:t>
            </a:fld>
            <a:endParaRPr lang="en-US"/>
          </a:p>
        </p:txBody>
      </p:sp>
    </p:spTree>
    <p:extLst>
      <p:ext uri="{BB962C8B-B14F-4D97-AF65-F5344CB8AC3E}">
        <p14:creationId xmlns:p14="http://schemas.microsoft.com/office/powerpoint/2010/main" val="3118293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Freeform 11"/>
          <p:cNvSpPr>
            <a:spLocks noChangeArrowheads="1"/>
          </p:cNvSpPr>
          <p:nvPr/>
        </p:nvSpPr>
        <p:spPr bwMode="white">
          <a:xfrm>
            <a:off x="8429022" y="0"/>
            <a:ext cx="3762978" cy="6858000"/>
          </a:xfrm>
          <a:custGeom>
            <a:avLst/>
            <a:gdLst>
              <a:gd name="connsiteX0" fmla="*/ 0 w 3762978"/>
              <a:gd name="connsiteY0" fmla="*/ 0 h 6858000"/>
              <a:gd name="connsiteX1" fmla="*/ 3762978 w 3762978"/>
              <a:gd name="connsiteY1" fmla="*/ 0 h 6858000"/>
              <a:gd name="connsiteX2" fmla="*/ 3762978 w 3762978"/>
              <a:gd name="connsiteY2" fmla="*/ 6858000 h 6858000"/>
              <a:gd name="connsiteX3" fmla="*/ 338667 w 3762978"/>
              <a:gd name="connsiteY3" fmla="*/ 6858000 h 6858000"/>
              <a:gd name="connsiteX4" fmla="*/ 1189567 w 3762978"/>
              <a:gd name="connsiteY4" fmla="*/ 433705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2978" h="6858000">
                <a:moveTo>
                  <a:pt x="0" y="0"/>
                </a:moveTo>
                <a:lnTo>
                  <a:pt x="3762978" y="0"/>
                </a:lnTo>
                <a:lnTo>
                  <a:pt x="3762978" y="6858000"/>
                </a:lnTo>
                <a:lnTo>
                  <a:pt x="338667" y="6858000"/>
                </a:lnTo>
                <a:lnTo>
                  <a:pt x="1189567" y="4337050"/>
                </a:ln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n-US" sz="1800"/>
          </a:p>
        </p:txBody>
      </p:sp>
      <p:sp>
        <p:nvSpPr>
          <p:cNvPr id="7" name="Freeform 6"/>
          <p:cNvSpPr>
            <a:spLocks/>
          </p:cNvSpPr>
          <p:nvPr/>
        </p:nvSpPr>
        <p:spPr bwMode="auto">
          <a:xfrm>
            <a:off x="8145385" y="0"/>
            <a:ext cx="1672169" cy="6858000"/>
          </a:xfrm>
          <a:custGeom>
            <a:avLst/>
            <a:gdLst/>
            <a:ahLst/>
            <a:cxnLst/>
            <a:rect l="l" t="t" r="r" b="b"/>
            <a:pathLst>
              <a:path w="1254127" h="6858000">
                <a:moveTo>
                  <a:pt x="0" y="0"/>
                </a:moveTo>
                <a:lnTo>
                  <a:pt x="365127" y="0"/>
                </a:lnTo>
                <a:lnTo>
                  <a:pt x="1254127" y="4337050"/>
                </a:lnTo>
                <a:lnTo>
                  <a:pt x="619127" y="6858000"/>
                </a:lnTo>
                <a:lnTo>
                  <a:pt x="257175" y="6858000"/>
                </a:lnTo>
                <a:lnTo>
                  <a:pt x="892175" y="4337050"/>
                </a:lnTo>
                <a:close/>
              </a:path>
            </a:pathLst>
          </a:custGeom>
          <a:solidFill>
            <a:schemeClr val="accent2"/>
          </a:solidFill>
          <a:ln>
            <a:noFill/>
          </a:ln>
          <a:effectLst/>
        </p:spPr>
        <p:txBody>
          <a:bodyPr vert="horz" wrap="square" lIns="91440" tIns="45720" rIns="91440" bIns="45720" numCol="1" anchor="t" anchorCtr="0" compatLnSpc="1">
            <a:prstTxWarp prst="textNoShape">
              <a:avLst/>
            </a:prstTxWarp>
          </a:bodyPr>
          <a:lstStyle/>
          <a:p>
            <a:pPr lvl="0"/>
            <a:endParaRPr lang="en-US" sz="1800"/>
          </a:p>
        </p:txBody>
      </p:sp>
      <p:sp>
        <p:nvSpPr>
          <p:cNvPr id="8" name="Freeform 7"/>
          <p:cNvSpPr>
            <a:spLocks/>
          </p:cNvSpPr>
          <p:nvPr/>
        </p:nvSpPr>
        <p:spPr bwMode="auto">
          <a:xfrm>
            <a:off x="7950653" y="0"/>
            <a:ext cx="1528232" cy="6858000"/>
          </a:xfrm>
          <a:custGeom>
            <a:avLst/>
            <a:gdLst/>
            <a:ahLst/>
            <a:cxnLst/>
            <a:rect l="l" t="t" r="r" b="b"/>
            <a:pathLst>
              <a:path w="1146174" h="6858000">
                <a:moveTo>
                  <a:pt x="0" y="0"/>
                </a:moveTo>
                <a:lnTo>
                  <a:pt x="253999" y="0"/>
                </a:lnTo>
                <a:lnTo>
                  <a:pt x="1146174" y="4337050"/>
                </a:lnTo>
                <a:lnTo>
                  <a:pt x="511174" y="6858000"/>
                </a:lnTo>
                <a:lnTo>
                  <a:pt x="254000" y="6858000"/>
                </a:lnTo>
                <a:lnTo>
                  <a:pt x="892175" y="4337050"/>
                </a:lnTo>
                <a:close/>
              </a:path>
            </a:pathLst>
          </a:custGeom>
          <a:solidFill>
            <a:schemeClr val="accent1"/>
          </a:solidFill>
          <a:ln>
            <a:noFill/>
          </a:ln>
          <a:effectLst>
            <a:innerShdw blurRad="177800" dist="50800" dir="10800000">
              <a:prstClr val="black">
                <a:alpha val="50000"/>
              </a:prstClr>
            </a:innerShdw>
          </a:effectLst>
        </p:spPr>
        <p:txBody>
          <a:bodyPr vert="horz" wrap="square" lIns="91440" tIns="45720" rIns="91440" bIns="45720" numCol="1" anchor="t" anchorCtr="0" compatLnSpc="1">
            <a:prstTxWarp prst="textNoShape">
              <a:avLst/>
            </a:prstTxWarp>
          </a:bodyPr>
          <a:lstStyle/>
          <a:p>
            <a:pPr lvl="0"/>
            <a:endParaRPr lang="en-US" sz="1800"/>
          </a:p>
        </p:txBody>
      </p:sp>
      <p:sp>
        <p:nvSpPr>
          <p:cNvPr id="2" name="Title 1"/>
          <p:cNvSpPr>
            <a:spLocks noGrp="1"/>
          </p:cNvSpPr>
          <p:nvPr>
            <p:ph type="ctrTitle"/>
          </p:nvPr>
        </p:nvSpPr>
        <p:spPr>
          <a:xfrm>
            <a:off x="1295400" y="1873584"/>
            <a:ext cx="6400800" cy="2560320"/>
          </a:xfrm>
        </p:spPr>
        <p:txBody>
          <a:bodyPr anchor="b">
            <a:normAutofit/>
          </a:bodyPr>
          <a:lstStyle>
            <a:lvl1pPr algn="l">
              <a:defRPr sz="4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5400" y="4572000"/>
            <a:ext cx="6400800" cy="1600200"/>
          </a:xfrm>
        </p:spPr>
        <p:txBody>
          <a:bodyPr/>
          <a:lstStyle>
            <a:lvl1pPr marL="0" indent="0" algn="l">
              <a:spcBef>
                <a:spcPts val="120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12585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79A3335-6331-4872-A8B7-ECD55539F4D0}" type="datetimeFigureOut">
              <a:rPr lang="en-US" smtClean="0"/>
              <a:t>4/19/2024</a:t>
            </a:fld>
            <a:endParaRPr lang="en-US"/>
          </a:p>
        </p:txBody>
      </p:sp>
      <p:sp>
        <p:nvSpPr>
          <p:cNvPr id="6" name="Slide Number Placeholder 5"/>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259618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10" name="Rectangle 5"/>
          <p:cNvSpPr>
            <a:spLocks noChangeArrowheads="1"/>
          </p:cNvSpPr>
          <p:nvPr/>
        </p:nvSpPr>
        <p:spPr bwMode="white">
          <a:xfrm>
            <a:off x="6540503" y="0"/>
            <a:ext cx="5651496" cy="6858000"/>
          </a:xfrm>
          <a:custGeom>
            <a:avLst/>
            <a:gdLst/>
            <a:ahLst/>
            <a:cxnLst/>
            <a:rect l="l" t="t" r="r" b="b"/>
            <a:pathLst>
              <a:path w="4238622" h="6858000">
                <a:moveTo>
                  <a:pt x="0" y="0"/>
                </a:moveTo>
                <a:lnTo>
                  <a:pt x="4086222" y="0"/>
                </a:lnTo>
                <a:lnTo>
                  <a:pt x="4237035" y="0"/>
                </a:lnTo>
                <a:lnTo>
                  <a:pt x="4238622" y="0"/>
                </a:lnTo>
                <a:lnTo>
                  <a:pt x="4238622" y="6858000"/>
                </a:lnTo>
                <a:lnTo>
                  <a:pt x="4237035" y="6858000"/>
                </a:lnTo>
                <a:lnTo>
                  <a:pt x="4086222" y="6858000"/>
                </a:lnTo>
                <a:lnTo>
                  <a:pt x="254000" y="6858000"/>
                </a:lnTo>
                <a:lnTo>
                  <a:pt x="892175" y="433705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1" name="Freeform 6"/>
          <p:cNvSpPr>
            <a:spLocks/>
          </p:cNvSpPr>
          <p:nvPr/>
        </p:nvSpPr>
        <p:spPr bwMode="auto">
          <a:xfrm>
            <a:off x="6256868" y="0"/>
            <a:ext cx="1672169" cy="6858000"/>
          </a:xfrm>
          <a:custGeom>
            <a:avLst/>
            <a:gdLst/>
            <a:ahLst/>
            <a:cxnLst/>
            <a:rect l="l" t="t" r="r" b="b"/>
            <a:pathLst>
              <a:path w="1254127" h="6858000">
                <a:moveTo>
                  <a:pt x="0" y="0"/>
                </a:moveTo>
                <a:lnTo>
                  <a:pt x="365127" y="0"/>
                </a:lnTo>
                <a:lnTo>
                  <a:pt x="1254127" y="4337050"/>
                </a:lnTo>
                <a:lnTo>
                  <a:pt x="619127" y="6858000"/>
                </a:lnTo>
                <a:lnTo>
                  <a:pt x="257175" y="6858000"/>
                </a:lnTo>
                <a:lnTo>
                  <a:pt x="892175" y="4337050"/>
                </a:lnTo>
                <a:close/>
              </a:path>
            </a:pathLst>
          </a:custGeom>
          <a:solidFill>
            <a:schemeClr val="accent2"/>
          </a:solidFill>
          <a:ln>
            <a:noFill/>
          </a:ln>
          <a:effectLst>
            <a:innerShdw blurRad="63500" dist="50800" dir="10800000">
              <a:prstClr val="black">
                <a:alpha val="50000"/>
              </a:prstClr>
            </a:innerShdw>
          </a:effectLst>
        </p:spPr>
        <p:txBody>
          <a:bodyPr vert="horz" wrap="square" lIns="91440" tIns="45720" rIns="91440" bIns="45720" numCol="1" anchor="t" anchorCtr="0" compatLnSpc="1">
            <a:prstTxWarp prst="textNoShape">
              <a:avLst/>
            </a:prstTxWarp>
          </a:bodyPr>
          <a:lstStyle/>
          <a:p>
            <a:pPr lvl="0"/>
            <a:endParaRPr lang="en-US" sz="1800"/>
          </a:p>
        </p:txBody>
      </p:sp>
      <p:sp>
        <p:nvSpPr>
          <p:cNvPr id="12" name="Freeform 7"/>
          <p:cNvSpPr>
            <a:spLocks/>
          </p:cNvSpPr>
          <p:nvPr/>
        </p:nvSpPr>
        <p:spPr bwMode="auto">
          <a:xfrm>
            <a:off x="6062136" y="0"/>
            <a:ext cx="1528232" cy="6858000"/>
          </a:xfrm>
          <a:custGeom>
            <a:avLst/>
            <a:gdLst/>
            <a:ahLst/>
            <a:cxnLst/>
            <a:rect l="l" t="t" r="r" b="b"/>
            <a:pathLst>
              <a:path w="1146174" h="6858000">
                <a:moveTo>
                  <a:pt x="0" y="0"/>
                </a:moveTo>
                <a:lnTo>
                  <a:pt x="253999" y="0"/>
                </a:lnTo>
                <a:lnTo>
                  <a:pt x="1146174" y="4337050"/>
                </a:lnTo>
                <a:lnTo>
                  <a:pt x="511174" y="6858000"/>
                </a:lnTo>
                <a:lnTo>
                  <a:pt x="254000" y="6858000"/>
                </a:lnTo>
                <a:lnTo>
                  <a:pt x="892175" y="4337050"/>
                </a:lnTo>
                <a:close/>
              </a:path>
            </a:pathLst>
          </a:custGeom>
          <a:solidFill>
            <a:schemeClr val="accent1"/>
          </a:solidFill>
          <a:ln>
            <a:noFill/>
          </a:ln>
          <a:effectLst>
            <a:innerShdw blurRad="177800" dist="50800" dir="10800000">
              <a:prstClr val="black">
                <a:alpha val="50000"/>
              </a:prstClr>
            </a:innerShdw>
          </a:effectLst>
        </p:spPr>
        <p:txBody>
          <a:bodyPr vert="horz" wrap="square" lIns="91440" tIns="45720" rIns="91440" bIns="45720" numCol="1" anchor="t" anchorCtr="0" compatLnSpc="1">
            <a:prstTxWarp prst="textNoShape">
              <a:avLst/>
            </a:prstTxWarp>
          </a:bodyPr>
          <a:lstStyle/>
          <a:p>
            <a:pPr lvl="0"/>
            <a:endParaRPr lang="en-US" sz="1800"/>
          </a:p>
        </p:txBody>
      </p:sp>
      <p:sp>
        <p:nvSpPr>
          <p:cNvPr id="2" name="Title 1"/>
          <p:cNvSpPr>
            <a:spLocks noGrp="1"/>
          </p:cNvSpPr>
          <p:nvPr>
            <p:ph type="ctrTitle"/>
          </p:nvPr>
        </p:nvSpPr>
        <p:spPr>
          <a:xfrm>
            <a:off x="1295401" y="1873584"/>
            <a:ext cx="5120640" cy="2560320"/>
          </a:xfrm>
        </p:spPr>
        <p:txBody>
          <a:bodyPr anchor="b">
            <a:normAutofit/>
          </a:bodyPr>
          <a:lstStyle>
            <a:lvl1pPr algn="l">
              <a:defRPr sz="4000">
                <a:solidFill>
                  <a:schemeClr val="tx1"/>
                </a:solidFill>
              </a:defRPr>
            </a:lvl1pPr>
          </a:lstStyle>
          <a:p>
            <a:r>
              <a:rPr lang="en-US"/>
              <a:t>Click to edit Master title style</a:t>
            </a:r>
            <a:endParaRPr lang="en-US" dirty="0"/>
          </a:p>
        </p:txBody>
      </p:sp>
      <p:sp>
        <p:nvSpPr>
          <p:cNvPr id="15" name="Picture Placeholder 14" descr="An empty placeholder to add an image. Click on the placeholder and select the image that you wish to add"/>
          <p:cNvSpPr>
            <a:spLocks noGrp="1"/>
          </p:cNvSpPr>
          <p:nvPr>
            <p:ph type="pic" sz="quarter" idx="10"/>
          </p:nvPr>
        </p:nvSpPr>
        <p:spPr>
          <a:xfrm>
            <a:off x="6743703" y="0"/>
            <a:ext cx="5448297" cy="6858000"/>
          </a:xfrm>
          <a:custGeom>
            <a:avLst/>
            <a:gdLst>
              <a:gd name="connsiteX0" fmla="*/ 0 w 5448297"/>
              <a:gd name="connsiteY0" fmla="*/ 0 h 6858000"/>
              <a:gd name="connsiteX1" fmla="*/ 5448297 w 5448297"/>
              <a:gd name="connsiteY1" fmla="*/ 0 h 6858000"/>
              <a:gd name="connsiteX2" fmla="*/ 5448297 w 5448297"/>
              <a:gd name="connsiteY2" fmla="*/ 6858000 h 6858000"/>
              <a:gd name="connsiteX3" fmla="*/ 338667 w 5448297"/>
              <a:gd name="connsiteY3" fmla="*/ 6858000 h 6858000"/>
              <a:gd name="connsiteX4" fmla="*/ 1185333 w 5448297"/>
              <a:gd name="connsiteY4" fmla="*/ 433705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8297" h="6858000">
                <a:moveTo>
                  <a:pt x="0" y="0"/>
                </a:moveTo>
                <a:lnTo>
                  <a:pt x="5448297" y="0"/>
                </a:lnTo>
                <a:lnTo>
                  <a:pt x="5448297" y="6858000"/>
                </a:lnTo>
                <a:lnTo>
                  <a:pt x="338667" y="6858000"/>
                </a:lnTo>
                <a:lnTo>
                  <a:pt x="1185333" y="4337050"/>
                </a:lnTo>
                <a:close/>
              </a:path>
            </a:pathLst>
          </a:custGeom>
          <a:noFill/>
          <a:ln>
            <a:noFill/>
          </a:ln>
        </p:spPr>
        <p:txBody>
          <a:bodyPr wrap="square" tIns="365760">
            <a:noAutofit/>
          </a:bodyPr>
          <a:lstStyle>
            <a:lvl1pPr marL="0" indent="0" algn="ctr">
              <a:buNone/>
              <a:defRPr sz="2800">
                <a:solidFill>
                  <a:schemeClr val="bg1"/>
                </a:solidFill>
              </a:defRPr>
            </a:lvl1pPr>
          </a:lstStyle>
          <a:p>
            <a:r>
              <a:rPr lang="en-US"/>
              <a:t>Click icon to add picture</a:t>
            </a:r>
          </a:p>
        </p:txBody>
      </p:sp>
      <p:sp>
        <p:nvSpPr>
          <p:cNvPr id="3" name="Subtitle 2"/>
          <p:cNvSpPr>
            <a:spLocks noGrp="1"/>
          </p:cNvSpPr>
          <p:nvPr>
            <p:ph type="subTitle" idx="1"/>
          </p:nvPr>
        </p:nvSpPr>
        <p:spPr>
          <a:xfrm>
            <a:off x="1295401" y="4572000"/>
            <a:ext cx="5120640" cy="16002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02813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5"/>
          <p:cNvSpPr>
            <a:spLocks noChangeArrowheads="1"/>
          </p:cNvSpPr>
          <p:nvPr/>
        </p:nvSpPr>
        <p:spPr bwMode="white">
          <a:xfrm>
            <a:off x="9622368" y="0"/>
            <a:ext cx="2569632" cy="6858000"/>
          </a:xfrm>
          <a:custGeom>
            <a:avLst/>
            <a:gdLst/>
            <a:ahLst/>
            <a:cxnLst/>
            <a:rect l="l" t="t" r="r" b="b"/>
            <a:pathLst>
              <a:path w="1927224" h="6858000">
                <a:moveTo>
                  <a:pt x="0" y="0"/>
                </a:moveTo>
                <a:lnTo>
                  <a:pt x="1927224" y="0"/>
                </a:lnTo>
                <a:lnTo>
                  <a:pt x="1927224" y="6858000"/>
                </a:lnTo>
                <a:lnTo>
                  <a:pt x="254000" y="6858000"/>
                </a:lnTo>
                <a:lnTo>
                  <a:pt x="892175" y="433705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8" name="Freeform 6"/>
          <p:cNvSpPr>
            <a:spLocks/>
          </p:cNvSpPr>
          <p:nvPr/>
        </p:nvSpPr>
        <p:spPr bwMode="auto">
          <a:xfrm>
            <a:off x="9237132" y="0"/>
            <a:ext cx="1672169" cy="6858000"/>
          </a:xfrm>
          <a:custGeom>
            <a:avLst/>
            <a:gdLst/>
            <a:ahLst/>
            <a:cxnLst/>
            <a:rect l="l" t="t" r="r" b="b"/>
            <a:pathLst>
              <a:path w="1254127" h="6858000">
                <a:moveTo>
                  <a:pt x="0" y="0"/>
                </a:moveTo>
                <a:lnTo>
                  <a:pt x="365127" y="0"/>
                </a:lnTo>
                <a:lnTo>
                  <a:pt x="1254127" y="4337050"/>
                </a:lnTo>
                <a:lnTo>
                  <a:pt x="619127" y="6858000"/>
                </a:lnTo>
                <a:lnTo>
                  <a:pt x="257175" y="6858000"/>
                </a:lnTo>
                <a:lnTo>
                  <a:pt x="892175" y="4337050"/>
                </a:lnTo>
                <a:close/>
              </a:path>
            </a:pathLst>
          </a:custGeom>
          <a:solidFill>
            <a:schemeClr val="accent2"/>
          </a:solidFill>
          <a:ln>
            <a:noFill/>
          </a:ln>
          <a:effectLst>
            <a:outerShdw blurRad="101600" dist="50800" algn="l" rotWithShape="0">
              <a:prstClr val="black">
                <a:alpha val="25000"/>
              </a:prstClr>
            </a:outerShdw>
          </a:effectLst>
        </p:spPr>
        <p:txBody>
          <a:bodyPr vert="horz" wrap="square" lIns="91440" tIns="45720" rIns="91440" bIns="45720" numCol="1" anchor="t" anchorCtr="0" compatLnSpc="1">
            <a:prstTxWarp prst="textNoShape">
              <a:avLst/>
            </a:prstTxWarp>
          </a:bodyPr>
          <a:lstStyle/>
          <a:p>
            <a:pPr lvl="0"/>
            <a:endParaRPr lang="en-US" sz="1800"/>
          </a:p>
        </p:txBody>
      </p:sp>
      <p:sp>
        <p:nvSpPr>
          <p:cNvPr id="9" name="Freeform 7"/>
          <p:cNvSpPr>
            <a:spLocks/>
          </p:cNvSpPr>
          <p:nvPr/>
        </p:nvSpPr>
        <p:spPr bwMode="auto">
          <a:xfrm>
            <a:off x="9173633" y="0"/>
            <a:ext cx="1460499" cy="6858000"/>
          </a:xfrm>
          <a:custGeom>
            <a:avLst/>
            <a:gdLst/>
            <a:ahLst/>
            <a:cxnLst/>
            <a:rect l="l" t="t" r="r" b="b"/>
            <a:pathLst>
              <a:path w="1095374" h="6858000">
                <a:moveTo>
                  <a:pt x="0" y="0"/>
                </a:moveTo>
                <a:lnTo>
                  <a:pt x="203199" y="0"/>
                </a:lnTo>
                <a:lnTo>
                  <a:pt x="1095374" y="4337050"/>
                </a:lnTo>
                <a:lnTo>
                  <a:pt x="460374" y="6858000"/>
                </a:lnTo>
                <a:lnTo>
                  <a:pt x="257175" y="6858000"/>
                </a:lnTo>
                <a:lnTo>
                  <a:pt x="892175" y="4337050"/>
                </a:lnTo>
                <a:close/>
              </a:path>
            </a:pathLst>
          </a:custGeom>
          <a:solidFill>
            <a:schemeClr val="accent1"/>
          </a:solidFill>
          <a:ln>
            <a:noFill/>
          </a:ln>
          <a:effectLst>
            <a:outerShdw blurRad="101600" dist="50800" algn="l" rotWithShape="0">
              <a:prstClr val="black">
                <a:alpha val="25000"/>
              </a:prstClr>
            </a:outerShdw>
          </a:effectLst>
        </p:spPr>
        <p:txBody>
          <a:bodyPr vert="horz" wrap="square" lIns="91440" tIns="45720" rIns="91440" bIns="45720" numCol="1" anchor="t" anchorCtr="0" compatLnSpc="1">
            <a:prstTxWarp prst="textNoShape">
              <a:avLst/>
            </a:prstTxWarp>
          </a:bodyPr>
          <a:lstStyle/>
          <a:p>
            <a:pPr lvl="0"/>
            <a:endParaRPr lang="en-US" sz="1800"/>
          </a:p>
        </p:txBody>
      </p:sp>
      <p:sp>
        <p:nvSpPr>
          <p:cNvPr id="10" name="Freeform 7"/>
          <p:cNvSpPr>
            <a:spLocks/>
          </p:cNvSpPr>
          <p:nvPr/>
        </p:nvSpPr>
        <p:spPr bwMode="auto">
          <a:xfrm>
            <a:off x="9173633" y="0"/>
            <a:ext cx="1460499" cy="6858000"/>
          </a:xfrm>
          <a:custGeom>
            <a:avLst/>
            <a:gdLst/>
            <a:ahLst/>
            <a:cxnLst/>
            <a:rect l="l" t="t" r="r" b="b"/>
            <a:pathLst>
              <a:path w="1095374" h="6858000">
                <a:moveTo>
                  <a:pt x="0" y="0"/>
                </a:moveTo>
                <a:lnTo>
                  <a:pt x="203199" y="0"/>
                </a:lnTo>
                <a:lnTo>
                  <a:pt x="1095374" y="4337050"/>
                </a:lnTo>
                <a:lnTo>
                  <a:pt x="460374" y="6858000"/>
                </a:lnTo>
                <a:lnTo>
                  <a:pt x="257175" y="6858000"/>
                </a:lnTo>
                <a:lnTo>
                  <a:pt x="892175" y="4337050"/>
                </a:lnTo>
                <a:close/>
              </a:path>
            </a:pathLst>
          </a:custGeom>
          <a:solidFill>
            <a:schemeClr val="accent1"/>
          </a:solidFill>
          <a:ln>
            <a:noFill/>
          </a:ln>
          <a:effectLst>
            <a:innerShdw blurRad="63500" dist="50800" dir="10800000">
              <a:prstClr val="black">
                <a:alpha val="50000"/>
              </a:prstClr>
            </a:innerShdw>
          </a:effectLst>
        </p:spPr>
        <p:txBody>
          <a:bodyPr vert="horz" wrap="square" lIns="91440" tIns="45720" rIns="91440" bIns="45720" numCol="1" anchor="t" anchorCtr="0" compatLnSpc="1">
            <a:prstTxWarp prst="textNoShape">
              <a:avLst/>
            </a:prstTxWarp>
          </a:bodyPr>
          <a:lstStyle/>
          <a:p>
            <a:pPr lvl="0"/>
            <a:endParaRPr lang="en-US" sz="1800"/>
          </a:p>
        </p:txBody>
      </p:sp>
      <p:sp>
        <p:nvSpPr>
          <p:cNvPr id="2" name="Title 1"/>
          <p:cNvSpPr>
            <a:spLocks noGrp="1"/>
          </p:cNvSpPr>
          <p:nvPr>
            <p:ph type="title"/>
          </p:nvPr>
        </p:nvSpPr>
        <p:spPr>
          <a:xfrm>
            <a:off x="1295398" y="2914650"/>
            <a:ext cx="8046720" cy="1557338"/>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398" y="4589463"/>
            <a:ext cx="8046718" cy="1011237"/>
          </a:xfrm>
        </p:spPr>
        <p:txBody>
          <a:bodyPr/>
          <a:lstStyle>
            <a:lvl1pPr marL="0" indent="0">
              <a:spcBef>
                <a:spcPts val="120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1964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8799"/>
            <a:ext cx="4572000" cy="43434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79A3335-6331-4872-A8B7-ECD55539F4D0}" type="datetimeFigureOut">
              <a:rPr lang="en-US" smtClean="0"/>
              <a:t>4/19/2024</a:t>
            </a:fld>
            <a:endParaRPr lang="en-US"/>
          </a:p>
        </p:txBody>
      </p:sp>
      <p:sp>
        <p:nvSpPr>
          <p:cNvPr id="7" name="Slide Number Placeholder 6"/>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244820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95400" y="255134"/>
            <a:ext cx="9601200" cy="1036850"/>
          </a:xfrm>
        </p:spPr>
        <p:txBody>
          <a:bodyPr/>
          <a:lstStyle/>
          <a:p>
            <a:r>
              <a:rPr lang="en-US"/>
              <a:t>Click to edit Master title style</a:t>
            </a:r>
          </a:p>
        </p:txBody>
      </p:sp>
      <p:sp>
        <p:nvSpPr>
          <p:cNvPr id="3" name="Text Placeholder 2"/>
          <p:cNvSpPr>
            <a:spLocks noGrp="1"/>
          </p:cNvSpPr>
          <p:nvPr>
            <p:ph type="body" idx="1"/>
          </p:nvPr>
        </p:nvSpPr>
        <p:spPr>
          <a:xfrm>
            <a:off x="1295400" y="1828800"/>
            <a:ext cx="4572000" cy="850392"/>
          </a:xfrm>
        </p:spPr>
        <p:txBody>
          <a:bodyPr anchor="ctr">
            <a:normAutofit/>
          </a:bodyPr>
          <a:lstStyle>
            <a:lvl1pPr marL="0" indent="0">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705100"/>
            <a:ext cx="4572000" cy="3467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24600" y="1828800"/>
            <a:ext cx="4572000" cy="847725"/>
          </a:xfrm>
        </p:spPr>
        <p:txBody>
          <a:bodyPr anchor="ctr">
            <a:normAutofit/>
          </a:bodyPr>
          <a:lstStyle>
            <a:lvl1pPr marL="0" indent="0">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705100"/>
            <a:ext cx="4572000" cy="3467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79A3335-6331-4872-A8B7-ECD55539F4D0}" type="datetimeFigureOut">
              <a:rPr lang="en-US" smtClean="0"/>
              <a:t>4/19/2024</a:t>
            </a:fld>
            <a:endParaRPr lang="en-US"/>
          </a:p>
        </p:txBody>
      </p:sp>
      <p:sp>
        <p:nvSpPr>
          <p:cNvPr id="9" name="Slide Number Placeholder 8"/>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260236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A79A3335-6331-4872-A8B7-ECD55539F4D0}" type="datetimeFigureOut">
              <a:rPr lang="en-US" smtClean="0"/>
              <a:t>4/19/2024</a:t>
            </a:fld>
            <a:endParaRPr lang="en-US"/>
          </a:p>
        </p:txBody>
      </p:sp>
      <p:sp>
        <p:nvSpPr>
          <p:cNvPr id="5" name="Slide Number Placeholder 4"/>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339733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A79A3335-6331-4872-A8B7-ECD55539F4D0}" type="datetimeFigureOut">
              <a:rPr lang="en-US" smtClean="0"/>
              <a:t>4/19/2024</a:t>
            </a:fld>
            <a:endParaRPr lang="en-US"/>
          </a:p>
        </p:txBody>
      </p:sp>
      <p:sp>
        <p:nvSpPr>
          <p:cNvPr id="4" name="Slide Number Placeholder 3"/>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298363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4728209" y="1828800"/>
            <a:ext cx="6126480" cy="434340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5400" y="1828800"/>
            <a:ext cx="3017520" cy="4343400"/>
          </a:xfrm>
        </p:spPr>
        <p:txBody>
          <a:bodyPr anchor="ctr">
            <a:normAutofit/>
          </a:bodyPr>
          <a:lstStyle>
            <a:lvl1pPr marL="0" indent="0">
              <a:spcBef>
                <a:spcPts val="1200"/>
              </a:spcBef>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79A3335-6331-4872-A8B7-ECD55539F4D0}" type="datetimeFigureOut">
              <a:rPr lang="en-US" smtClean="0"/>
              <a:t>4/19/2024</a:t>
            </a:fld>
            <a:endParaRPr lang="en-US"/>
          </a:p>
        </p:txBody>
      </p:sp>
      <p:sp>
        <p:nvSpPr>
          <p:cNvPr id="7" name="Slide Number Placeholder 6"/>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25476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0" y="255134"/>
            <a:ext cx="9601200" cy="103685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724400" y="1828801"/>
            <a:ext cx="6172200" cy="4343400"/>
          </a:xfrm>
        </p:spPr>
        <p:txBody>
          <a:bodyPr tIns="2743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295400" y="1828800"/>
            <a:ext cx="3017520" cy="4343400"/>
          </a:xfrm>
        </p:spPr>
        <p:txBody>
          <a:bodyPr anchor="ctr">
            <a:normAutofit/>
          </a:bodyPr>
          <a:lstStyle>
            <a:lvl1pPr marL="0" indent="0">
              <a:spcBef>
                <a:spcPts val="1200"/>
              </a:spcBef>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79A3335-6331-4872-A8B7-ECD55539F4D0}" type="datetimeFigureOut">
              <a:rPr lang="en-US" smtClean="0"/>
              <a:t>4/19/2024</a:t>
            </a:fld>
            <a:endParaRPr lang="en-US"/>
          </a:p>
        </p:txBody>
      </p:sp>
      <p:sp>
        <p:nvSpPr>
          <p:cNvPr id="7" name="Slide Number Placeholder 6"/>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10675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9" name="Rectangle 8"/>
          <p:cNvSpPr/>
          <p:nvPr/>
        </p:nvSpPr>
        <p:spPr bwMode="invGray">
          <a:xfrm>
            <a:off x="1295400" y="5257800"/>
            <a:ext cx="457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bwMode="invGray">
          <a:xfrm>
            <a:off x="6324599" y="5257800"/>
            <a:ext cx="457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295400" y="5257800"/>
            <a:ext cx="4572000" cy="54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p:nvSpPr>
        <p:spPr>
          <a:xfrm>
            <a:off x="6324599" y="5257800"/>
            <a:ext cx="4572000" cy="54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1295400" y="255134"/>
            <a:ext cx="9601200" cy="103685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298448" y="1828801"/>
            <a:ext cx="4572000" cy="3428999"/>
          </a:xfrm>
        </p:spPr>
        <p:txBody>
          <a:bodyPr tIns="2743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bwMode="invGray">
          <a:xfrm>
            <a:off x="1371273" y="5333098"/>
            <a:ext cx="4420252" cy="839102"/>
          </a:xfrm>
        </p:spPr>
        <p:txBody>
          <a:bodyPr anchor="t">
            <a:normAutofit/>
          </a:bodyPr>
          <a:lstStyle>
            <a:lvl1pPr marL="0" indent="0">
              <a:spcBef>
                <a:spcPts val="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descr="An empty placeholder to add an image. Click on the placeholder and select the image that you wish to add"/>
          <p:cNvSpPr>
            <a:spLocks noGrp="1"/>
          </p:cNvSpPr>
          <p:nvPr>
            <p:ph type="pic" idx="13"/>
          </p:nvPr>
        </p:nvSpPr>
        <p:spPr>
          <a:xfrm>
            <a:off x="6324600" y="1828801"/>
            <a:ext cx="4572000" cy="3428999"/>
          </a:xfrm>
        </p:spPr>
        <p:txBody>
          <a:bodyPr tIns="2743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Text Placeholder 3"/>
          <p:cNvSpPr>
            <a:spLocks noGrp="1"/>
          </p:cNvSpPr>
          <p:nvPr>
            <p:ph type="body" sz="half" idx="14"/>
          </p:nvPr>
        </p:nvSpPr>
        <p:spPr bwMode="invGray">
          <a:xfrm>
            <a:off x="6412954" y="5333098"/>
            <a:ext cx="4420252" cy="839102"/>
          </a:xfrm>
        </p:spPr>
        <p:txBody>
          <a:bodyPr anchor="t">
            <a:normAutofit/>
          </a:bodyPr>
          <a:lstStyle>
            <a:lvl1pPr marL="0" indent="0">
              <a:spcBef>
                <a:spcPts val="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79A3335-6331-4872-A8B7-ECD55539F4D0}" type="datetimeFigureOut">
              <a:rPr lang="en-US" smtClean="0"/>
              <a:t>4/19/2024</a:t>
            </a:fld>
            <a:endParaRPr lang="en-US"/>
          </a:p>
        </p:txBody>
      </p:sp>
      <p:sp>
        <p:nvSpPr>
          <p:cNvPr id="7" name="Slide Number Placeholder 6"/>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394401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79A3335-6331-4872-A8B7-ECD55539F4D0}" type="datetimeFigureOut">
              <a:rPr lang="en-US" smtClean="0"/>
              <a:t>4/19/2024</a:t>
            </a:fld>
            <a:endParaRPr lang="en-US"/>
          </a:p>
        </p:txBody>
      </p:sp>
      <p:sp>
        <p:nvSpPr>
          <p:cNvPr id="6" name="Slide Number Placeholder 5"/>
          <p:cNvSpPr>
            <a:spLocks noGrp="1"/>
          </p:cNvSpPr>
          <p:nvPr>
            <p:ph type="sldNum" sz="quarter" idx="12"/>
          </p:nvPr>
        </p:nvSpPr>
        <p:spPr/>
        <p:txBody>
          <a:bodyPr/>
          <a:lstStyle/>
          <a:p>
            <a:fld id="{A7F8E3F6-DE14-48B2-B2BC-6FABA9630FB8}" type="slidenum">
              <a:rPr lang="en-US" smtClean="0"/>
              <a:t>‹#›</a:t>
            </a:fld>
            <a:endParaRPr lang="en-US"/>
          </a:p>
        </p:txBody>
      </p:sp>
    </p:spTree>
    <p:extLst>
      <p:ext uri="{BB962C8B-B14F-4D97-AF65-F5344CB8AC3E}">
        <p14:creationId xmlns:p14="http://schemas.microsoft.com/office/powerpoint/2010/main" val="1092945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white">
          <a:xfrm rot="5400000">
            <a:off x="7562850" y="2228850"/>
            <a:ext cx="6858000" cy="24003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rot="5400000">
            <a:off x="6331230" y="3387909"/>
            <a:ext cx="6858000" cy="8218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5400000">
            <a:off x="6251613" y="3387909"/>
            <a:ext cx="6858000" cy="821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9871318" y="685800"/>
            <a:ext cx="1033272" cy="5486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400" y="685800"/>
            <a:ext cx="7976754"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79A3335-6331-4872-A8B7-ECD55539F4D0}" type="datetimeFigureOut">
              <a:rPr lang="en-US" smtClean="0"/>
              <a:t>4/19/2024</a:t>
            </a:fld>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7F8E3F6-DE14-48B2-B2BC-6FABA9630FB8}" type="slidenum">
              <a:rPr lang="en-US" smtClean="0"/>
              <a:pPr/>
              <a:t>‹#›</a:t>
            </a:fld>
            <a:endParaRPr lang="en-US" dirty="0"/>
          </a:p>
        </p:txBody>
      </p:sp>
    </p:spTree>
    <p:extLst>
      <p:ext uri="{BB962C8B-B14F-4D97-AF65-F5344CB8AC3E}">
        <p14:creationId xmlns:p14="http://schemas.microsoft.com/office/powerpoint/2010/main" val="1804110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userDrawn="1"/>
        </p:nvSpPr>
        <p:spPr bwMode="white">
          <a:xfrm>
            <a:off x="0" y="0"/>
            <a:ext cx="12192000" cy="137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371600"/>
            <a:ext cx="12192000" cy="8218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443006"/>
            <a:ext cx="12192000" cy="821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295400" y="255134"/>
            <a:ext cx="9601200" cy="103685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828800"/>
            <a:ext cx="96012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295399" y="6374999"/>
            <a:ext cx="6243203" cy="274320"/>
          </a:xfrm>
          <a:prstGeom prst="rect">
            <a:avLst/>
          </a:prstGeom>
        </p:spPr>
        <p:txBody>
          <a:bodyPr vert="horz" lIns="91440" tIns="45720" rIns="91440" bIns="45720" rtlCol="0" anchor="ctr"/>
          <a:lstStyle>
            <a:lvl1pPr algn="l">
              <a:defRPr sz="1100">
                <a:solidFill>
                  <a:schemeClr val="tx1"/>
                </a:solidFill>
              </a:defRPr>
            </a:lvl1pPr>
          </a:lstStyle>
          <a:p>
            <a:r>
              <a:rPr lang="en-US" dirty="0"/>
              <a:t>Add a footer</a:t>
            </a:r>
          </a:p>
        </p:txBody>
      </p:sp>
      <p:sp>
        <p:nvSpPr>
          <p:cNvPr id="4" name="Date Placeholder 3"/>
          <p:cNvSpPr>
            <a:spLocks noGrp="1"/>
          </p:cNvSpPr>
          <p:nvPr>
            <p:ph type="dt" sz="half" idx="2"/>
          </p:nvPr>
        </p:nvSpPr>
        <p:spPr>
          <a:xfrm>
            <a:off x="7791449" y="6374999"/>
            <a:ext cx="1480705" cy="274320"/>
          </a:xfrm>
          <a:prstGeom prst="rect">
            <a:avLst/>
          </a:prstGeom>
        </p:spPr>
        <p:txBody>
          <a:bodyPr vert="horz" lIns="91440" tIns="45720" rIns="91440" bIns="45720" rtlCol="0" anchor="ctr"/>
          <a:lstStyle>
            <a:lvl1pPr algn="r">
              <a:defRPr sz="1100">
                <a:solidFill>
                  <a:schemeClr val="tx1"/>
                </a:solidFill>
              </a:defRPr>
            </a:lvl1pPr>
          </a:lstStyle>
          <a:p>
            <a:fld id="{A79A3335-6331-4872-A8B7-ECD55539F4D0}" type="datetimeFigureOut">
              <a:rPr lang="en-US" smtClean="0"/>
              <a:pPr/>
              <a:t>4/19/2024</a:t>
            </a:fld>
            <a:endParaRPr lang="en-US"/>
          </a:p>
        </p:txBody>
      </p:sp>
      <p:sp>
        <p:nvSpPr>
          <p:cNvPr id="6" name="Slide Number Placeholder 5"/>
          <p:cNvSpPr>
            <a:spLocks noGrp="1"/>
          </p:cNvSpPr>
          <p:nvPr>
            <p:ph type="sldNum" sz="quarter" idx="4"/>
          </p:nvPr>
        </p:nvSpPr>
        <p:spPr>
          <a:xfrm>
            <a:off x="9525000" y="6374999"/>
            <a:ext cx="1371600" cy="274320"/>
          </a:xfrm>
          <a:prstGeom prst="rect">
            <a:avLst/>
          </a:prstGeom>
        </p:spPr>
        <p:txBody>
          <a:bodyPr vert="horz" lIns="91440" tIns="45720" rIns="91440" bIns="45720" rtlCol="0" anchor="ctr"/>
          <a:lstStyle>
            <a:lvl1pPr algn="r">
              <a:defRPr sz="1100">
                <a:solidFill>
                  <a:schemeClr val="tx1"/>
                </a:solidFill>
              </a:defRPr>
            </a:lvl1pPr>
          </a:lstStyle>
          <a:p>
            <a:fld id="{A7F8E3F6-DE14-48B2-B2BC-6FABA9630FB8}" type="slidenum">
              <a:rPr lang="en-US" smtClean="0"/>
              <a:pPr/>
              <a:t>‹#›</a:t>
            </a:fld>
            <a:endParaRPr lang="en-US"/>
          </a:p>
        </p:txBody>
      </p:sp>
    </p:spTree>
    <p:extLst>
      <p:ext uri="{BB962C8B-B14F-4D97-AF65-F5344CB8AC3E}">
        <p14:creationId xmlns:p14="http://schemas.microsoft.com/office/powerpoint/2010/main" val="259473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61"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74320" indent="-274320" algn="l" defTabSz="914400" rtl="0" eaLnBrk="1" latinLnBrk="0" hangingPunct="1">
        <a:lnSpc>
          <a:spcPct val="90000"/>
        </a:lnSpc>
        <a:spcBef>
          <a:spcPts val="1800"/>
        </a:spcBef>
        <a:buFont typeface="Arial" panose="020B0604020202020204" pitchFamily="34" charset="0"/>
        <a:buChar char="•"/>
        <a:defRPr sz="2400" kern="1200">
          <a:solidFill>
            <a:schemeClr val="tx1"/>
          </a:solidFill>
          <a:latin typeface="+mn-lt"/>
          <a:ea typeface="+mn-ea"/>
          <a:cs typeface="+mn-cs"/>
        </a:defRPr>
      </a:lvl1pPr>
      <a:lvl2pPr marL="54864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2pPr>
      <a:lvl3pPr marL="822960" indent="-228600" algn="l" defTabSz="914400" rtl="0" eaLnBrk="1" latinLnBrk="0" hangingPunct="1">
        <a:lnSpc>
          <a:spcPct val="90000"/>
        </a:lnSpc>
        <a:spcBef>
          <a:spcPts val="800"/>
        </a:spcBef>
        <a:buFont typeface="Arial" panose="020B0604020202020204" pitchFamily="34" charset="0"/>
        <a:buChar char="•"/>
        <a:defRPr sz="1800" kern="1200">
          <a:solidFill>
            <a:schemeClr val="tx1"/>
          </a:solidFill>
          <a:latin typeface="+mn-lt"/>
          <a:ea typeface="+mn-ea"/>
          <a:cs typeface="+mn-cs"/>
        </a:defRPr>
      </a:lvl3pPr>
      <a:lvl4pPr marL="10972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pixabay.com/en/los-angeles-traffic-freeway-1396606/"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digitalocean.com/community/tutorials/an-introduction-to-machine-learning" TargetMode="External"/><Relationship Id="rId2" Type="http://schemas.openxmlformats.org/officeDocument/2006/relationships/image" Target="../media/image19.wmf"/><Relationship Id="rId1" Type="http://schemas.openxmlformats.org/officeDocument/2006/relationships/slideLayout" Target="../slideLayouts/slideLayout3.xml"/><Relationship Id="rId4" Type="http://schemas.openxmlformats.org/officeDocument/2006/relationships/hyperlink" Target="https://creativecommons.org/licenses/by-nc-sa/3.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kurucz.ca/expatrepat/professionals.php" TargetMode="External"/><Relationship Id="rId2" Type="http://schemas.openxmlformats.org/officeDocument/2006/relationships/image" Target="../media/image22.jpg"/><Relationship Id="rId1" Type="http://schemas.openxmlformats.org/officeDocument/2006/relationships/slideLayout" Target="../slideLayouts/slideLayout3.xml"/><Relationship Id="rId4" Type="http://schemas.openxmlformats.org/officeDocument/2006/relationships/hyperlink" Target="https://creativecommons.org/licenses/by/3.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1" y="344042"/>
            <a:ext cx="5120640" cy="2560320"/>
          </a:xfrm>
        </p:spPr>
        <p:txBody>
          <a:bodyPr/>
          <a:lstStyle/>
          <a:p>
            <a:r>
              <a:rPr lang="en-US" dirty="0"/>
              <a:t>Highway Amenities Prediction</a:t>
            </a:r>
          </a:p>
        </p:txBody>
      </p:sp>
      <p:pic>
        <p:nvPicPr>
          <p:cNvPr id="5" name="Picture Placeholder 4"/>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24594" r="24594"/>
          <a:stretch/>
        </p:blipFill>
        <p:spPr/>
      </p:pic>
      <p:sp>
        <p:nvSpPr>
          <p:cNvPr id="3" name="Subtitle 2"/>
          <p:cNvSpPr>
            <a:spLocks noGrp="1"/>
          </p:cNvSpPr>
          <p:nvPr>
            <p:ph type="subTitle" idx="1"/>
          </p:nvPr>
        </p:nvSpPr>
        <p:spPr>
          <a:xfrm>
            <a:off x="1295401" y="3315637"/>
            <a:ext cx="5120640" cy="1276004"/>
          </a:xfrm>
        </p:spPr>
        <p:txBody>
          <a:bodyPr>
            <a:normAutofit/>
          </a:bodyPr>
          <a:lstStyle/>
          <a:p>
            <a:pPr algn="r"/>
            <a:r>
              <a:rPr lang="en-US" dirty="0"/>
              <a:t>Team 1</a:t>
            </a:r>
          </a:p>
        </p:txBody>
      </p:sp>
    </p:spTree>
    <p:extLst>
      <p:ext uri="{BB962C8B-B14F-4D97-AF65-F5344CB8AC3E}">
        <p14:creationId xmlns:p14="http://schemas.microsoft.com/office/powerpoint/2010/main" val="138059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Case</a:t>
            </a:r>
          </a:p>
        </p:txBody>
      </p:sp>
      <p:sp>
        <p:nvSpPr>
          <p:cNvPr id="3" name="Content Placeholder 2"/>
          <p:cNvSpPr>
            <a:spLocks noGrp="1"/>
          </p:cNvSpPr>
          <p:nvPr>
            <p:ph idx="1"/>
          </p:nvPr>
        </p:nvSpPr>
        <p:spPr/>
        <p:txBody>
          <a:bodyPr/>
          <a:lstStyle/>
          <a:p>
            <a:pPr marL="0" indent="0">
              <a:buNone/>
            </a:pPr>
            <a:r>
              <a:rPr lang="en-US" dirty="0"/>
              <a:t>Problem Statement:</a:t>
            </a:r>
          </a:p>
          <a:p>
            <a:r>
              <a:rPr lang="en-US" dirty="0"/>
              <a:t>Identify the need to develop correct highway amenities for interstate drivers, by reducing waste and building of unnecessary amenities.</a:t>
            </a:r>
          </a:p>
          <a:p>
            <a:pPr marL="0" indent="0">
              <a:buNone/>
            </a:pPr>
            <a:r>
              <a:rPr lang="en-US" dirty="0"/>
              <a:t>Solution Offered</a:t>
            </a:r>
          </a:p>
          <a:p>
            <a:r>
              <a:rPr lang="en-US" dirty="0"/>
              <a:t>Employ predictive analytics to interpret drivers’ preferences from coupon response data and help  figure out what kinds of services drivers like most, by constructing best options that make trips better and increase profitability.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3987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and Work Flow</a:t>
            </a:r>
          </a:p>
        </p:txBody>
      </p:sp>
      <p:graphicFrame>
        <p:nvGraphicFramePr>
          <p:cNvPr id="6" name="Content Placeholder 5" descr="Basic Chevron Process diagram showing 4 steps arranged from left to right"/>
          <p:cNvGraphicFramePr>
            <a:graphicFrameLocks noGrp="1"/>
          </p:cNvGraphicFramePr>
          <p:nvPr>
            <p:ph idx="1"/>
            <p:extLst>
              <p:ext uri="{D42A27DB-BD31-4B8C-83A1-F6EECF244321}">
                <p14:modId xmlns:p14="http://schemas.microsoft.com/office/powerpoint/2010/main" val="647075579"/>
              </p:ext>
            </p:extLst>
          </p:nvPr>
        </p:nvGraphicFramePr>
        <p:xfrm>
          <a:off x="525780" y="1436506"/>
          <a:ext cx="10949940" cy="5166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214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9FBA073F-BB69-B6A4-24DB-5C795C46FB94}"/>
              </a:ext>
            </a:extLst>
          </p:cNvPr>
          <p:cNvPicPr>
            <a:picLocks noGrp="1" noChangeAspect="1"/>
          </p:cNvPicPr>
          <p:nvPr>
            <p:ph type="pic" sz="quarter" idx="10"/>
          </p:nvPr>
        </p:nvPicPr>
        <p:blipFill>
          <a:blip r:embed="rId2"/>
          <a:srcRect l="3109" r="3109"/>
          <a:stretch>
            <a:fillRect/>
          </a:stretch>
        </p:blipFill>
        <p:spPr/>
      </p:pic>
      <p:sp>
        <p:nvSpPr>
          <p:cNvPr id="7" name="Title 1"/>
          <p:cNvSpPr>
            <a:spLocks noGrp="1"/>
          </p:cNvSpPr>
          <p:nvPr>
            <p:ph type="ctrTitle"/>
          </p:nvPr>
        </p:nvSpPr>
        <p:spPr>
          <a:xfrm>
            <a:off x="545592" y="1965024"/>
            <a:ext cx="6400800" cy="2560320"/>
          </a:xfrm>
        </p:spPr>
        <p:txBody>
          <a:bodyPr/>
          <a:lstStyle/>
          <a:p>
            <a:r>
              <a:rPr lang="en-US" dirty="0"/>
              <a:t>Data Review</a:t>
            </a:r>
          </a:p>
        </p:txBody>
      </p:sp>
    </p:spTree>
    <p:extLst>
      <p:ext uri="{BB962C8B-B14F-4D97-AF65-F5344CB8AC3E}">
        <p14:creationId xmlns:p14="http://schemas.microsoft.com/office/powerpoint/2010/main" val="1458129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2E8624-1A8B-7DA4-29F4-75EAE75A158C}"/>
              </a:ext>
            </a:extLst>
          </p:cNvPr>
          <p:cNvSpPr>
            <a:spLocks noGrp="1"/>
          </p:cNvSpPr>
          <p:nvPr>
            <p:ph type="title"/>
          </p:nvPr>
        </p:nvSpPr>
        <p:spPr/>
        <p:txBody>
          <a:bodyPr/>
          <a:lstStyle/>
          <a:p>
            <a:r>
              <a:rPr lang="en-US" dirty="0"/>
              <a:t>Data Review</a:t>
            </a:r>
          </a:p>
        </p:txBody>
      </p:sp>
      <p:pic>
        <p:nvPicPr>
          <p:cNvPr id="6" name="Google Shape;138;p23">
            <a:extLst>
              <a:ext uri="{FF2B5EF4-FFF2-40B4-BE49-F238E27FC236}">
                <a16:creationId xmlns:a16="http://schemas.microsoft.com/office/drawing/2014/main" id="{59997A2A-C68B-698D-1B2B-1C651DC22DF2}"/>
              </a:ext>
            </a:extLst>
          </p:cNvPr>
          <p:cNvPicPr preferRelativeResize="0"/>
          <p:nvPr/>
        </p:nvPicPr>
        <p:blipFill>
          <a:blip r:embed="rId2">
            <a:alphaModFix/>
          </a:blip>
          <a:stretch>
            <a:fillRect/>
          </a:stretch>
        </p:blipFill>
        <p:spPr>
          <a:xfrm>
            <a:off x="6685824" y="2455326"/>
            <a:ext cx="1055424" cy="529825"/>
          </a:xfrm>
          <a:prstGeom prst="rect">
            <a:avLst/>
          </a:prstGeom>
          <a:noFill/>
          <a:ln>
            <a:noFill/>
          </a:ln>
        </p:spPr>
      </p:pic>
      <p:pic>
        <p:nvPicPr>
          <p:cNvPr id="8" name="Google Shape;140;p23">
            <a:extLst>
              <a:ext uri="{FF2B5EF4-FFF2-40B4-BE49-F238E27FC236}">
                <a16:creationId xmlns:a16="http://schemas.microsoft.com/office/drawing/2014/main" id="{595C1415-0427-3C72-24EC-F70E3CFADDCD}"/>
              </a:ext>
            </a:extLst>
          </p:cNvPr>
          <p:cNvPicPr preferRelativeResize="0"/>
          <p:nvPr/>
        </p:nvPicPr>
        <p:blipFill>
          <a:blip r:embed="rId3">
            <a:alphaModFix/>
          </a:blip>
          <a:stretch>
            <a:fillRect/>
          </a:stretch>
        </p:blipFill>
        <p:spPr>
          <a:xfrm>
            <a:off x="6910150" y="3951970"/>
            <a:ext cx="606771" cy="529825"/>
          </a:xfrm>
          <a:prstGeom prst="rect">
            <a:avLst/>
          </a:prstGeom>
          <a:noFill/>
          <a:ln w="9525" cap="flat" cmpd="sng">
            <a:solidFill>
              <a:srgbClr val="8900E1"/>
            </a:solidFill>
            <a:prstDash val="solid"/>
            <a:round/>
            <a:headEnd type="none" w="sm" len="sm"/>
            <a:tailEnd type="none" w="sm" len="sm"/>
          </a:ln>
        </p:spPr>
      </p:pic>
      <p:sp>
        <p:nvSpPr>
          <p:cNvPr id="10" name="Google Shape;158;p24">
            <a:extLst>
              <a:ext uri="{FF2B5EF4-FFF2-40B4-BE49-F238E27FC236}">
                <a16:creationId xmlns:a16="http://schemas.microsoft.com/office/drawing/2014/main" id="{30DDFB31-99A8-9A87-41A0-DF3708B304CC}"/>
              </a:ext>
            </a:extLst>
          </p:cNvPr>
          <p:cNvSpPr txBox="1"/>
          <p:nvPr/>
        </p:nvSpPr>
        <p:spPr>
          <a:xfrm>
            <a:off x="9804861" y="4297349"/>
            <a:ext cx="2246698" cy="461635"/>
          </a:xfrm>
          <a:prstGeom prst="rect">
            <a:avLst/>
          </a:prstGeom>
          <a:solidFill>
            <a:schemeClr val="accent5">
              <a:lumMod val="60000"/>
              <a:lumOff val="40000"/>
            </a:schemeClr>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Montserrat"/>
                <a:ea typeface="Montserrat"/>
                <a:cs typeface="Montserrat"/>
                <a:sym typeface="Montserrat"/>
              </a:rPr>
              <a:t>1 – Outcome -&gt;  Y</a:t>
            </a:r>
          </a:p>
        </p:txBody>
      </p:sp>
      <p:sp>
        <p:nvSpPr>
          <p:cNvPr id="11" name="Google Shape;158;p24">
            <a:extLst>
              <a:ext uri="{FF2B5EF4-FFF2-40B4-BE49-F238E27FC236}">
                <a16:creationId xmlns:a16="http://schemas.microsoft.com/office/drawing/2014/main" id="{2507C9ED-E455-1F5A-8BED-CD8DB9B11262}"/>
              </a:ext>
            </a:extLst>
          </p:cNvPr>
          <p:cNvSpPr txBox="1"/>
          <p:nvPr/>
        </p:nvSpPr>
        <p:spPr>
          <a:xfrm>
            <a:off x="9804859" y="5292532"/>
            <a:ext cx="2246696" cy="461635"/>
          </a:xfrm>
          <a:prstGeom prst="rect">
            <a:avLst/>
          </a:prstGeom>
          <a:solidFill>
            <a:srgbClr val="FFC000"/>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Montserrat"/>
                <a:ea typeface="Montserrat"/>
                <a:cs typeface="Montserrat"/>
                <a:sym typeface="Montserrat"/>
              </a:rPr>
              <a:t>24 – Predictors </a:t>
            </a:r>
          </a:p>
        </p:txBody>
      </p:sp>
      <p:cxnSp>
        <p:nvCxnSpPr>
          <p:cNvPr id="13" name="Straight Arrow Connector 12">
            <a:extLst>
              <a:ext uri="{FF2B5EF4-FFF2-40B4-BE49-F238E27FC236}">
                <a16:creationId xmlns:a16="http://schemas.microsoft.com/office/drawing/2014/main" id="{D0771105-0A10-454A-75B0-9D662B23F4B6}"/>
              </a:ext>
            </a:extLst>
          </p:cNvPr>
          <p:cNvCxnSpPr>
            <a:cxnSpLocks/>
            <a:endCxn id="10" idx="1"/>
          </p:cNvCxnSpPr>
          <p:nvPr/>
        </p:nvCxnSpPr>
        <p:spPr>
          <a:xfrm flipV="1">
            <a:off x="8789835" y="4528167"/>
            <a:ext cx="1015026" cy="493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E96751-DE08-10D6-9E7B-58785485383E}"/>
              </a:ext>
            </a:extLst>
          </p:cNvPr>
          <p:cNvCxnSpPr>
            <a:cxnSpLocks/>
            <a:endCxn id="11" idx="1"/>
          </p:cNvCxnSpPr>
          <p:nvPr/>
        </p:nvCxnSpPr>
        <p:spPr>
          <a:xfrm>
            <a:off x="8789835" y="5021920"/>
            <a:ext cx="1015024" cy="501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F3FA4B5-8D47-C3BD-BCD2-307A7F50F124}"/>
              </a:ext>
            </a:extLst>
          </p:cNvPr>
          <p:cNvCxnSpPr>
            <a:cxnSpLocks/>
            <a:stCxn id="11" idx="2"/>
          </p:cNvCxnSpPr>
          <p:nvPr/>
        </p:nvCxnSpPr>
        <p:spPr>
          <a:xfrm flipH="1">
            <a:off x="7310716" y="5754167"/>
            <a:ext cx="3617491" cy="456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Google Shape;158;p24">
            <a:extLst>
              <a:ext uri="{FF2B5EF4-FFF2-40B4-BE49-F238E27FC236}">
                <a16:creationId xmlns:a16="http://schemas.microsoft.com/office/drawing/2014/main" id="{A2260E68-4016-C088-BF3B-89B986BAE926}"/>
              </a:ext>
            </a:extLst>
          </p:cNvPr>
          <p:cNvSpPr txBox="1"/>
          <p:nvPr/>
        </p:nvSpPr>
        <p:spPr>
          <a:xfrm>
            <a:off x="6010415" y="6210239"/>
            <a:ext cx="3022863" cy="461635"/>
          </a:xfrm>
          <a:prstGeom prst="rect">
            <a:avLst/>
          </a:prstGeom>
          <a:solidFill>
            <a:srgbClr val="92D050"/>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Montserrat"/>
                <a:ea typeface="Montserrat"/>
                <a:cs typeface="Montserrat"/>
                <a:sym typeface="Montserrat"/>
              </a:rPr>
              <a:t>Result – Prediction -&gt; Y</a:t>
            </a:r>
          </a:p>
        </p:txBody>
      </p:sp>
      <p:sp>
        <p:nvSpPr>
          <p:cNvPr id="19" name="Rectangle 18">
            <a:extLst>
              <a:ext uri="{FF2B5EF4-FFF2-40B4-BE49-F238E27FC236}">
                <a16:creationId xmlns:a16="http://schemas.microsoft.com/office/drawing/2014/main" id="{E7F696F4-512C-38B1-B120-6DAFFFC7C811}"/>
              </a:ext>
            </a:extLst>
          </p:cNvPr>
          <p:cNvSpPr/>
          <p:nvPr/>
        </p:nvSpPr>
        <p:spPr>
          <a:xfrm>
            <a:off x="5279521" y="1867243"/>
            <a:ext cx="4062390" cy="3836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b="1" dirty="0"/>
              <a:t>Highway operation dataset</a:t>
            </a:r>
            <a:endParaRPr lang="en-US" dirty="0"/>
          </a:p>
        </p:txBody>
      </p:sp>
      <p:sp>
        <p:nvSpPr>
          <p:cNvPr id="32" name="Rectangle 31">
            <a:extLst>
              <a:ext uri="{FF2B5EF4-FFF2-40B4-BE49-F238E27FC236}">
                <a16:creationId xmlns:a16="http://schemas.microsoft.com/office/drawing/2014/main" id="{6FB66E57-9A34-6474-2E57-260412DF136E}"/>
              </a:ext>
            </a:extLst>
          </p:cNvPr>
          <p:cNvSpPr/>
          <p:nvPr/>
        </p:nvSpPr>
        <p:spPr>
          <a:xfrm>
            <a:off x="6512047" y="3237179"/>
            <a:ext cx="1521682" cy="3836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10K Records</a:t>
            </a:r>
          </a:p>
        </p:txBody>
      </p:sp>
      <p:sp>
        <p:nvSpPr>
          <p:cNvPr id="33" name="Rectangle 32">
            <a:extLst>
              <a:ext uri="{FF2B5EF4-FFF2-40B4-BE49-F238E27FC236}">
                <a16:creationId xmlns:a16="http://schemas.microsoft.com/office/drawing/2014/main" id="{4D79C374-17E9-80F6-45E5-916280B07116}"/>
              </a:ext>
            </a:extLst>
          </p:cNvPr>
          <p:cNvSpPr/>
          <p:nvPr/>
        </p:nvSpPr>
        <p:spPr>
          <a:xfrm>
            <a:off x="6466290" y="4924940"/>
            <a:ext cx="1521682" cy="3836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25 Columns</a:t>
            </a:r>
          </a:p>
        </p:txBody>
      </p:sp>
      <p:sp>
        <p:nvSpPr>
          <p:cNvPr id="54" name="TextBox 53">
            <a:extLst>
              <a:ext uri="{FF2B5EF4-FFF2-40B4-BE49-F238E27FC236}">
                <a16:creationId xmlns:a16="http://schemas.microsoft.com/office/drawing/2014/main" id="{839E0222-FF9D-3063-E7AA-FF9495C3D27B}"/>
              </a:ext>
            </a:extLst>
          </p:cNvPr>
          <p:cNvSpPr txBox="1"/>
          <p:nvPr/>
        </p:nvSpPr>
        <p:spPr>
          <a:xfrm>
            <a:off x="95240" y="1604084"/>
            <a:ext cx="4793672" cy="5755422"/>
          </a:xfrm>
          <a:prstGeom prst="rect">
            <a:avLst/>
          </a:prstGeom>
          <a:noFill/>
        </p:spPr>
        <p:txBody>
          <a:bodyPr wrap="square" rtlCol="0">
            <a:spAutoFit/>
          </a:bodyPr>
          <a:lstStyle/>
          <a:p>
            <a:r>
              <a:rPr lang="en-US" dirty="0"/>
              <a:t>Dataset:</a:t>
            </a:r>
            <a:endParaRPr lang="en-US" sz="1400" dirty="0"/>
          </a:p>
          <a:p>
            <a:pPr algn="l"/>
            <a:r>
              <a:rPr lang="en-US" sz="1400" b="1" i="0" u="none" strike="noStrike" dirty="0">
                <a:solidFill>
                  <a:srgbClr val="000000"/>
                </a:solidFill>
                <a:effectLst/>
              </a:rPr>
              <a:t>id: </a:t>
            </a:r>
            <a:r>
              <a:rPr lang="en-US" sz="1400" b="0" i="0" u="none" strike="noStrike" dirty="0">
                <a:solidFill>
                  <a:srgbClr val="000000"/>
                </a:solidFill>
                <a:effectLst/>
              </a:rPr>
              <a:t>unique number giving to the driver doing the survey</a:t>
            </a:r>
          </a:p>
          <a:p>
            <a:pPr algn="l"/>
            <a:r>
              <a:rPr lang="en-US" sz="1400" b="1" i="0" u="none" strike="noStrike" dirty="0">
                <a:solidFill>
                  <a:srgbClr val="000000"/>
                </a:solidFill>
                <a:effectLst/>
              </a:rPr>
              <a:t>destination:</a:t>
            </a:r>
            <a:r>
              <a:rPr lang="en-US" sz="1400" b="0" i="0" u="none" strike="noStrike" dirty="0">
                <a:solidFill>
                  <a:srgbClr val="000000"/>
                </a:solidFill>
                <a:effectLst/>
              </a:rPr>
              <a:t> No Urgent Place, Home, Work</a:t>
            </a:r>
          </a:p>
          <a:p>
            <a:pPr algn="l"/>
            <a:r>
              <a:rPr lang="en-US" sz="1400" b="1" i="0" u="none" strike="noStrike" dirty="0" err="1">
                <a:solidFill>
                  <a:srgbClr val="000000"/>
                </a:solidFill>
                <a:effectLst/>
              </a:rPr>
              <a:t>passanger</a:t>
            </a:r>
            <a:r>
              <a:rPr lang="en-US" sz="1400" b="1" i="0" u="none" strike="noStrike" dirty="0">
                <a:solidFill>
                  <a:srgbClr val="000000"/>
                </a:solidFill>
                <a:effectLst/>
              </a:rPr>
              <a:t>:</a:t>
            </a:r>
            <a:r>
              <a:rPr lang="en-US" sz="1400" b="0" i="0" u="none" strike="noStrike" dirty="0">
                <a:solidFill>
                  <a:srgbClr val="000000"/>
                </a:solidFill>
                <a:effectLst/>
              </a:rPr>
              <a:t> Alone, Friend(s), Kid(s), Partner (who are the passengers in the car)</a:t>
            </a:r>
          </a:p>
          <a:p>
            <a:pPr algn="l"/>
            <a:r>
              <a:rPr lang="en-US" sz="1400" b="1" i="0" u="none" strike="noStrike" dirty="0">
                <a:solidFill>
                  <a:srgbClr val="000000"/>
                </a:solidFill>
                <a:effectLst/>
              </a:rPr>
              <a:t>weather: </a:t>
            </a:r>
            <a:r>
              <a:rPr lang="en-US" sz="1400" b="0" i="0" u="none" strike="noStrike" dirty="0">
                <a:solidFill>
                  <a:srgbClr val="000000"/>
                </a:solidFill>
                <a:effectLst/>
              </a:rPr>
              <a:t>Sunny, Rainy, Snowy</a:t>
            </a:r>
          </a:p>
          <a:p>
            <a:pPr algn="l"/>
            <a:r>
              <a:rPr lang="en-US" sz="1400" b="1" i="0" u="none" strike="noStrike" dirty="0">
                <a:solidFill>
                  <a:srgbClr val="000000"/>
                </a:solidFill>
                <a:effectLst/>
              </a:rPr>
              <a:t>temperature:</a:t>
            </a:r>
            <a:r>
              <a:rPr lang="en-US" sz="1400" b="0" i="0" u="none" strike="noStrike" dirty="0">
                <a:solidFill>
                  <a:srgbClr val="000000"/>
                </a:solidFill>
                <a:effectLst/>
              </a:rPr>
              <a:t>55, 80, 30</a:t>
            </a:r>
          </a:p>
          <a:p>
            <a:pPr algn="l"/>
            <a:r>
              <a:rPr lang="en-US" sz="1400" b="1" i="0" u="none" strike="noStrike" dirty="0">
                <a:solidFill>
                  <a:srgbClr val="000000"/>
                </a:solidFill>
                <a:effectLst/>
              </a:rPr>
              <a:t>time:</a:t>
            </a:r>
            <a:r>
              <a:rPr lang="en-US" sz="1400" b="0" i="0" u="none" strike="noStrike" dirty="0">
                <a:solidFill>
                  <a:srgbClr val="000000"/>
                </a:solidFill>
                <a:effectLst/>
              </a:rPr>
              <a:t> 2PM, 10AM, 6PM, 7AM, 10PM</a:t>
            </a:r>
          </a:p>
          <a:p>
            <a:pPr algn="l"/>
            <a:r>
              <a:rPr lang="en-US" sz="1400" b="1" i="0" u="none" strike="noStrike" dirty="0">
                <a:solidFill>
                  <a:srgbClr val="000000"/>
                </a:solidFill>
                <a:effectLst/>
              </a:rPr>
              <a:t>coupon: </a:t>
            </a:r>
            <a:r>
              <a:rPr lang="en-US" sz="1400" b="0" i="0" u="none" strike="noStrike" dirty="0">
                <a:solidFill>
                  <a:srgbClr val="000000"/>
                </a:solidFill>
                <a:effectLst/>
              </a:rPr>
              <a:t>Restaurant(&lt;$20), Coffee House, Carry out &amp; Take away, Bar, Restaurant($20-$50)</a:t>
            </a:r>
          </a:p>
          <a:p>
            <a:pPr algn="l"/>
            <a:r>
              <a:rPr lang="en-US" sz="1400" b="1" i="0" u="none" strike="noStrike" dirty="0">
                <a:solidFill>
                  <a:srgbClr val="000000"/>
                </a:solidFill>
                <a:effectLst/>
              </a:rPr>
              <a:t>expiration: </a:t>
            </a:r>
            <a:r>
              <a:rPr lang="en-US" sz="1400" b="0" i="0" u="none" strike="noStrike" dirty="0">
                <a:solidFill>
                  <a:srgbClr val="000000"/>
                </a:solidFill>
                <a:effectLst/>
              </a:rPr>
              <a:t>1d, 2h (the coupon expires in 1 day or in 2 hours)</a:t>
            </a:r>
          </a:p>
          <a:p>
            <a:pPr algn="l"/>
            <a:r>
              <a:rPr lang="en-US" sz="1400" b="1" i="0" u="none" strike="noStrike" dirty="0">
                <a:solidFill>
                  <a:srgbClr val="000000"/>
                </a:solidFill>
                <a:effectLst/>
              </a:rPr>
              <a:t>gender:</a:t>
            </a:r>
            <a:r>
              <a:rPr lang="en-US" sz="1400" b="0" i="0" u="none" strike="noStrike" dirty="0">
                <a:solidFill>
                  <a:srgbClr val="000000"/>
                </a:solidFill>
                <a:effectLst/>
              </a:rPr>
              <a:t> Female, Male</a:t>
            </a:r>
          </a:p>
          <a:p>
            <a:pPr algn="l"/>
            <a:r>
              <a:rPr lang="en-US" sz="1400" b="1" i="0" u="none" strike="noStrike" dirty="0">
                <a:solidFill>
                  <a:srgbClr val="000000"/>
                </a:solidFill>
                <a:effectLst/>
              </a:rPr>
              <a:t>age:</a:t>
            </a:r>
            <a:r>
              <a:rPr lang="en-US" sz="1400" b="0" i="0" u="none" strike="noStrike" dirty="0">
                <a:solidFill>
                  <a:srgbClr val="000000"/>
                </a:solidFill>
                <a:effectLst/>
              </a:rPr>
              <a:t> 21, 46, 26, 31, 41, 50plus, 36, below21</a:t>
            </a:r>
          </a:p>
          <a:p>
            <a:pPr algn="l"/>
            <a:r>
              <a:rPr lang="en-US" sz="1400" b="1" i="0" u="none" strike="noStrike" dirty="0">
                <a:solidFill>
                  <a:srgbClr val="000000"/>
                </a:solidFill>
                <a:effectLst/>
              </a:rPr>
              <a:t>education:</a:t>
            </a:r>
            <a:r>
              <a:rPr lang="en-US" sz="1400" b="0" i="0" u="none" strike="noStrike" dirty="0">
                <a:solidFill>
                  <a:srgbClr val="000000"/>
                </a:solidFill>
                <a:effectLst/>
              </a:rPr>
              <a:t> Some college - no degree, Bachelors degree, Associates degree,..</a:t>
            </a:r>
          </a:p>
          <a:p>
            <a:pPr algn="l"/>
            <a:r>
              <a:rPr lang="en-US" sz="1400" b="1" dirty="0">
                <a:solidFill>
                  <a:srgbClr val="000000"/>
                </a:solidFill>
              </a:rPr>
              <a:t>occupation: </a:t>
            </a:r>
            <a:r>
              <a:rPr lang="en-US" sz="1400" b="0" i="0" u="none" strike="noStrike" dirty="0">
                <a:solidFill>
                  <a:srgbClr val="000000"/>
                </a:solidFill>
                <a:effectLst/>
              </a:rPr>
              <a:t>Building &amp; Grounds Cleaning &amp; Maintenance, Farming Fishing &amp; Forestry</a:t>
            </a:r>
          </a:p>
          <a:p>
            <a:r>
              <a:rPr lang="en-US" sz="1400" b="0" i="0" u="none" strike="noStrike" dirty="0">
                <a:solidFill>
                  <a:srgbClr val="000000"/>
                </a:solidFill>
                <a:effectLst/>
              </a:rPr>
              <a:t>.</a:t>
            </a:r>
          </a:p>
          <a:p>
            <a:r>
              <a:rPr lang="en-US" sz="1400" dirty="0">
                <a:solidFill>
                  <a:srgbClr val="000000"/>
                </a:solidFill>
              </a:rPr>
              <a:t>.</a:t>
            </a:r>
          </a:p>
          <a:p>
            <a:r>
              <a:rPr lang="en-US" sz="1400" b="0" i="0" u="none" strike="noStrike" dirty="0">
                <a:solidFill>
                  <a:srgbClr val="000000"/>
                </a:solidFill>
                <a:effectLst/>
              </a:rPr>
              <a:t>.</a:t>
            </a:r>
          </a:p>
          <a:p>
            <a:r>
              <a:rPr lang="en-US" sz="1400" b="1" i="0" u="none" strike="noStrike" dirty="0">
                <a:solidFill>
                  <a:srgbClr val="000000"/>
                </a:solidFill>
                <a:effectLst/>
              </a:rPr>
              <a:t>Y: </a:t>
            </a:r>
            <a:r>
              <a:rPr lang="en-US" sz="1400" b="0" i="0" u="none" strike="noStrike" dirty="0">
                <a:solidFill>
                  <a:srgbClr val="000000"/>
                </a:solidFill>
                <a:effectLst/>
              </a:rPr>
              <a:t>1, 0 (whether the coupon is accepted)</a:t>
            </a:r>
          </a:p>
          <a:p>
            <a:pPr algn="l"/>
            <a:endParaRPr lang="en-US" sz="1400" b="0" i="0" u="none" strike="noStrike" dirty="0">
              <a:solidFill>
                <a:srgbClr val="000000"/>
              </a:solidFill>
              <a:effectLst/>
            </a:endParaRPr>
          </a:p>
          <a:p>
            <a:pPr algn="l"/>
            <a:endParaRPr lang="en-US" sz="1400" dirty="0"/>
          </a:p>
          <a:p>
            <a:endParaRPr lang="en-US" sz="1400" dirty="0"/>
          </a:p>
          <a:p>
            <a:r>
              <a:rPr lang="en-US" sz="1400" dirty="0"/>
              <a:t> </a:t>
            </a:r>
          </a:p>
        </p:txBody>
      </p:sp>
      <p:cxnSp>
        <p:nvCxnSpPr>
          <p:cNvPr id="63" name="Straight Connector 62">
            <a:extLst>
              <a:ext uri="{FF2B5EF4-FFF2-40B4-BE49-F238E27FC236}">
                <a16:creationId xmlns:a16="http://schemas.microsoft.com/office/drawing/2014/main" id="{CCF63C38-654F-F147-8A27-6144D07346E1}"/>
              </a:ext>
            </a:extLst>
          </p:cNvPr>
          <p:cNvCxnSpPr>
            <a:cxnSpLocks/>
          </p:cNvCxnSpPr>
          <p:nvPr/>
        </p:nvCxnSpPr>
        <p:spPr>
          <a:xfrm>
            <a:off x="5067708" y="1867243"/>
            <a:ext cx="0" cy="45889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676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9FBA073F-BB69-B6A4-24DB-5C795C46FB94}"/>
              </a:ext>
            </a:extLst>
          </p:cNvPr>
          <p:cNvPicPr>
            <a:picLocks noGrp="1" noChangeAspect="1"/>
          </p:cNvPicPr>
          <p:nvPr>
            <p:ph type="pic" sz="quarter" idx="10"/>
          </p:nvPr>
        </p:nvPicPr>
        <p:blipFill>
          <a:blip r:embed="rId2"/>
          <a:srcRect l="3109" r="3109"/>
          <a:stretch>
            <a:fillRect/>
          </a:stretch>
        </p:blipFill>
        <p:spPr/>
      </p:pic>
      <p:sp>
        <p:nvSpPr>
          <p:cNvPr id="7" name="Title 1"/>
          <p:cNvSpPr>
            <a:spLocks noGrp="1"/>
          </p:cNvSpPr>
          <p:nvPr>
            <p:ph type="ctrTitle"/>
          </p:nvPr>
        </p:nvSpPr>
        <p:spPr>
          <a:xfrm>
            <a:off x="481584" y="337392"/>
            <a:ext cx="6400800" cy="1025064"/>
          </a:xfrm>
        </p:spPr>
        <p:txBody>
          <a:bodyPr/>
          <a:lstStyle/>
          <a:p>
            <a:r>
              <a:rPr lang="en-US" dirty="0"/>
              <a:t>EDA</a:t>
            </a:r>
          </a:p>
        </p:txBody>
      </p:sp>
      <p:pic>
        <p:nvPicPr>
          <p:cNvPr id="2" name="图片 4">
            <a:extLst>
              <a:ext uri="{FF2B5EF4-FFF2-40B4-BE49-F238E27FC236}">
                <a16:creationId xmlns:a16="http://schemas.microsoft.com/office/drawing/2014/main" id="{F4CF6772-2A69-6327-0B40-400C7A8D3377}"/>
              </a:ext>
            </a:extLst>
          </p:cNvPr>
          <p:cNvPicPr>
            <a:picLocks noChangeAspect="1"/>
          </p:cNvPicPr>
          <p:nvPr/>
        </p:nvPicPr>
        <p:blipFill>
          <a:blip r:embed="rId3"/>
          <a:stretch>
            <a:fillRect/>
          </a:stretch>
        </p:blipFill>
        <p:spPr>
          <a:xfrm>
            <a:off x="722783" y="1964005"/>
            <a:ext cx="3773751" cy="2548349"/>
          </a:xfrm>
          <a:prstGeom prst="rect">
            <a:avLst/>
          </a:prstGeom>
        </p:spPr>
      </p:pic>
      <p:pic>
        <p:nvPicPr>
          <p:cNvPr id="3" name="图片 5">
            <a:extLst>
              <a:ext uri="{FF2B5EF4-FFF2-40B4-BE49-F238E27FC236}">
                <a16:creationId xmlns:a16="http://schemas.microsoft.com/office/drawing/2014/main" id="{2ADE81C1-ABE7-46FC-4F79-DFD6FF37EBAE}"/>
              </a:ext>
            </a:extLst>
          </p:cNvPr>
          <p:cNvPicPr>
            <a:picLocks noChangeAspect="1"/>
          </p:cNvPicPr>
          <p:nvPr/>
        </p:nvPicPr>
        <p:blipFill>
          <a:blip r:embed="rId4"/>
          <a:stretch>
            <a:fillRect/>
          </a:stretch>
        </p:blipFill>
        <p:spPr>
          <a:xfrm>
            <a:off x="920900" y="4959546"/>
            <a:ext cx="3816427" cy="1322947"/>
          </a:xfrm>
          <a:prstGeom prst="rect">
            <a:avLst/>
          </a:prstGeom>
        </p:spPr>
      </p:pic>
    </p:spTree>
    <p:extLst>
      <p:ext uri="{BB962C8B-B14F-4D97-AF65-F5344CB8AC3E}">
        <p14:creationId xmlns:p14="http://schemas.microsoft.com/office/powerpoint/2010/main" val="1276097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49C03C-40DB-B125-7D8B-D01DEFAD2119}"/>
              </a:ext>
            </a:extLst>
          </p:cNvPr>
          <p:cNvSpPr>
            <a:spLocks noGrp="1"/>
          </p:cNvSpPr>
          <p:nvPr>
            <p:ph type="title"/>
          </p:nvPr>
        </p:nvSpPr>
        <p:spPr/>
        <p:txBody>
          <a:bodyPr/>
          <a:lstStyle/>
          <a:p>
            <a:r>
              <a:rPr lang="en-US" dirty="0"/>
              <a:t>EDA-I</a:t>
            </a:r>
          </a:p>
        </p:txBody>
      </p:sp>
      <p:sp>
        <p:nvSpPr>
          <p:cNvPr id="18" name="TextBox 17">
            <a:extLst>
              <a:ext uri="{FF2B5EF4-FFF2-40B4-BE49-F238E27FC236}">
                <a16:creationId xmlns:a16="http://schemas.microsoft.com/office/drawing/2014/main" id="{FB768FE1-A24C-C8FF-B8AC-D009DDE61560}"/>
              </a:ext>
            </a:extLst>
          </p:cNvPr>
          <p:cNvSpPr txBox="1"/>
          <p:nvPr/>
        </p:nvSpPr>
        <p:spPr>
          <a:xfrm>
            <a:off x="4100945" y="1684899"/>
            <a:ext cx="4178905" cy="2585323"/>
          </a:xfrm>
          <a:prstGeom prst="rect">
            <a:avLst/>
          </a:prstGeom>
          <a:noFill/>
        </p:spPr>
        <p:txBody>
          <a:bodyPr wrap="square" rtlCol="0">
            <a:spAutoFit/>
          </a:bodyPr>
          <a:lstStyle/>
          <a:p>
            <a:pPr marL="342900" indent="-342900">
              <a:buFont typeface="Arial" panose="020B0604020202020204" pitchFamily="34" charset="0"/>
              <a:buChar char="•"/>
            </a:pPr>
            <a:r>
              <a:rPr lang="en-US" sz="1600" b="0" i="0" u="none" strike="noStrike" dirty="0">
                <a:solidFill>
                  <a:srgbClr val="0D0D0D"/>
                </a:solidFill>
                <a:effectLst/>
              </a:rPr>
              <a:t>Occupation group possibly related to ‘Unemployed' shows highest acceptance, nearing 800.</a:t>
            </a:r>
          </a:p>
          <a:p>
            <a:pPr marL="342900" indent="-342900">
              <a:buFont typeface="Arial" panose="020B0604020202020204" pitchFamily="34" charset="0"/>
              <a:buChar char="•"/>
            </a:pPr>
            <a:r>
              <a:rPr lang="en-US" sz="1600" b="0" i="0" u="none" strike="noStrike" dirty="0">
                <a:solidFill>
                  <a:srgbClr val="0D0D0D"/>
                </a:solidFill>
                <a:effectLst/>
              </a:rPr>
              <a:t>High acceptance occupations could be targeted more aggressively.</a:t>
            </a:r>
          </a:p>
          <a:p>
            <a:pPr marL="342900" indent="-342900">
              <a:buFont typeface="Arial" panose="020B0604020202020204" pitchFamily="34" charset="0"/>
              <a:buChar char="•"/>
            </a:pPr>
            <a:r>
              <a:rPr lang="en-US" sz="1600" b="0" i="0" u="none" strike="noStrike" dirty="0">
                <a:solidFill>
                  <a:srgbClr val="0D0D0D"/>
                </a:solidFill>
                <a:effectLst/>
              </a:rPr>
              <a:t>Occupation emerges as a significant factor influencing outcomes.</a:t>
            </a:r>
          </a:p>
          <a:p>
            <a:pPr marL="342900" indent="-342900">
              <a:buFont typeface="Arial" panose="020B0604020202020204" pitchFamily="34" charset="0"/>
              <a:buChar char="•"/>
            </a:pPr>
            <a:endParaRPr lang="en-US" sz="1600" b="0" i="0" u="none" strike="noStrike" dirty="0">
              <a:solidFill>
                <a:srgbClr val="0D0D0D"/>
              </a:solidFill>
              <a:effectLst/>
              <a:latin typeface="Söhne"/>
            </a:endParaRPr>
          </a:p>
          <a:p>
            <a:pPr marL="342900" indent="-342900">
              <a:buFont typeface="Arial" panose="020B0604020202020204" pitchFamily="34" charset="0"/>
              <a:buChar char="•"/>
            </a:pPr>
            <a:endParaRPr lang="en-US" sz="1600" b="0" i="0" u="none" strike="noStrike" dirty="0">
              <a:solidFill>
                <a:srgbClr val="0D0D0D"/>
              </a:solidFill>
              <a:effectLst/>
              <a:latin typeface="Söhne"/>
            </a:endParaRPr>
          </a:p>
          <a:p>
            <a:pPr marL="342900" indent="-342900">
              <a:buFont typeface="Arial" panose="020B0604020202020204" pitchFamily="34" charset="0"/>
              <a:buChar char="•"/>
            </a:pPr>
            <a:endParaRPr lang="en-US" sz="1600" b="0" i="0" u="none" strike="noStrike" dirty="0">
              <a:solidFill>
                <a:srgbClr val="0D0D0D"/>
              </a:solidFill>
              <a:effectLst/>
              <a:latin typeface="Söhne"/>
            </a:endParaRPr>
          </a:p>
        </p:txBody>
      </p:sp>
      <p:sp>
        <p:nvSpPr>
          <p:cNvPr id="20" name="TextBox 19">
            <a:extLst>
              <a:ext uri="{FF2B5EF4-FFF2-40B4-BE49-F238E27FC236}">
                <a16:creationId xmlns:a16="http://schemas.microsoft.com/office/drawing/2014/main" id="{F89F2140-59CB-C6A9-2D71-FAB623DBAD43}"/>
              </a:ext>
            </a:extLst>
          </p:cNvPr>
          <p:cNvSpPr txBox="1"/>
          <p:nvPr/>
        </p:nvSpPr>
        <p:spPr>
          <a:xfrm>
            <a:off x="8304200" y="4786984"/>
            <a:ext cx="3695514" cy="1815882"/>
          </a:xfrm>
          <a:prstGeom prst="rect">
            <a:avLst/>
          </a:prstGeom>
          <a:noFill/>
        </p:spPr>
        <p:txBody>
          <a:bodyPr wrap="square" rtlCol="0">
            <a:spAutoFit/>
          </a:bodyPr>
          <a:lstStyle/>
          <a:p>
            <a:pPr algn="l">
              <a:buFont typeface="Arial" panose="020B0604020202020204" pitchFamily="34" charset="0"/>
              <a:buChar char="•"/>
            </a:pPr>
            <a:r>
              <a:rPr lang="en-US" sz="1600" b="0" i="0" u="none" strike="noStrike" dirty="0">
                <a:solidFill>
                  <a:srgbClr val="0D0D0D"/>
                </a:solidFill>
                <a:effectLst/>
              </a:rPr>
              <a:t> Correlation observed between income levels and acceptance/rejection of Outcome Y.</a:t>
            </a:r>
          </a:p>
          <a:p>
            <a:pPr algn="l">
              <a:buFont typeface="Arial" panose="020B0604020202020204" pitchFamily="34" charset="0"/>
              <a:buChar char="•"/>
            </a:pPr>
            <a:r>
              <a:rPr lang="en-US" sz="1600" b="0" i="0" u="none" strike="noStrike" dirty="0">
                <a:solidFill>
                  <a:srgbClr val="0D0D0D"/>
                </a:solidFill>
                <a:effectLst/>
              </a:rPr>
              <a:t> Acceptance counts increase with income, peaking at "$25,000 - $37,499" bracket, nearing 1,000 counts.</a:t>
            </a:r>
            <a:endParaRPr lang="en-US" sz="1600" b="0" i="0" u="none" strike="noStrike" dirty="0">
              <a:solidFill>
                <a:srgbClr val="0D0D0D"/>
              </a:solidFill>
              <a:effectLst/>
              <a:latin typeface="Söhne"/>
            </a:endParaRPr>
          </a:p>
          <a:p>
            <a:pPr algn="l">
              <a:buFont typeface="Arial" panose="020B0604020202020204" pitchFamily="34" charset="0"/>
              <a:buChar char="•"/>
            </a:pPr>
            <a:endParaRPr lang="en-US" sz="1600" b="0" i="0" u="none" strike="noStrike" dirty="0">
              <a:solidFill>
                <a:srgbClr val="0D0D0D"/>
              </a:solidFill>
              <a:effectLst/>
              <a:latin typeface="Söhne"/>
            </a:endParaRPr>
          </a:p>
        </p:txBody>
      </p:sp>
      <p:pic>
        <p:nvPicPr>
          <p:cNvPr id="2" name="图片 1">
            <a:extLst>
              <a:ext uri="{FF2B5EF4-FFF2-40B4-BE49-F238E27FC236}">
                <a16:creationId xmlns:a16="http://schemas.microsoft.com/office/drawing/2014/main" id="{EDAF398F-552D-F678-6EB4-37D02F0B0540}"/>
              </a:ext>
            </a:extLst>
          </p:cNvPr>
          <p:cNvPicPr>
            <a:picLocks noChangeAspect="1"/>
          </p:cNvPicPr>
          <p:nvPr/>
        </p:nvPicPr>
        <p:blipFill>
          <a:blip r:embed="rId3"/>
          <a:stretch>
            <a:fillRect/>
          </a:stretch>
        </p:blipFill>
        <p:spPr>
          <a:xfrm>
            <a:off x="8392005" y="1592356"/>
            <a:ext cx="3519904" cy="2630809"/>
          </a:xfrm>
          <a:prstGeom prst="rect">
            <a:avLst/>
          </a:prstGeom>
        </p:spPr>
      </p:pic>
      <p:pic>
        <p:nvPicPr>
          <p:cNvPr id="3" name="图片 2">
            <a:extLst>
              <a:ext uri="{FF2B5EF4-FFF2-40B4-BE49-F238E27FC236}">
                <a16:creationId xmlns:a16="http://schemas.microsoft.com/office/drawing/2014/main" id="{F8C6C619-FA1C-A4EA-BBDA-30A19ED0E429}"/>
              </a:ext>
            </a:extLst>
          </p:cNvPr>
          <p:cNvPicPr>
            <a:picLocks noChangeAspect="1"/>
          </p:cNvPicPr>
          <p:nvPr/>
        </p:nvPicPr>
        <p:blipFill>
          <a:blip r:embed="rId4"/>
          <a:stretch>
            <a:fillRect/>
          </a:stretch>
        </p:blipFill>
        <p:spPr>
          <a:xfrm>
            <a:off x="4024304" y="3693367"/>
            <a:ext cx="3875371" cy="2959467"/>
          </a:xfrm>
          <a:prstGeom prst="rect">
            <a:avLst/>
          </a:prstGeom>
        </p:spPr>
      </p:pic>
      <p:pic>
        <p:nvPicPr>
          <p:cNvPr id="4" name="图片 3">
            <a:extLst>
              <a:ext uri="{FF2B5EF4-FFF2-40B4-BE49-F238E27FC236}">
                <a16:creationId xmlns:a16="http://schemas.microsoft.com/office/drawing/2014/main" id="{345DDD25-4549-70EC-10FF-6C51183BACBC}"/>
              </a:ext>
            </a:extLst>
          </p:cNvPr>
          <p:cNvPicPr>
            <a:picLocks noChangeAspect="1"/>
          </p:cNvPicPr>
          <p:nvPr/>
        </p:nvPicPr>
        <p:blipFill>
          <a:blip r:embed="rId5"/>
          <a:stretch>
            <a:fillRect/>
          </a:stretch>
        </p:blipFill>
        <p:spPr>
          <a:xfrm>
            <a:off x="280091" y="1645251"/>
            <a:ext cx="3364038" cy="2689985"/>
          </a:xfrm>
          <a:prstGeom prst="rect">
            <a:avLst/>
          </a:prstGeom>
        </p:spPr>
      </p:pic>
      <p:sp>
        <p:nvSpPr>
          <p:cNvPr id="5" name="TextBox 4">
            <a:extLst>
              <a:ext uri="{FF2B5EF4-FFF2-40B4-BE49-F238E27FC236}">
                <a16:creationId xmlns:a16="http://schemas.microsoft.com/office/drawing/2014/main" id="{E766240C-B6D6-2BE3-99DD-E574DE3D4F99}"/>
              </a:ext>
            </a:extLst>
          </p:cNvPr>
          <p:cNvSpPr txBox="1"/>
          <p:nvPr/>
        </p:nvSpPr>
        <p:spPr>
          <a:xfrm>
            <a:off x="280091" y="4547221"/>
            <a:ext cx="3567868" cy="212365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D0D0D"/>
                </a:solidFill>
              </a:rPr>
              <a:t>Highest coupon acceptance rates observed among individuals with "some college - no degree.“</a:t>
            </a:r>
          </a:p>
          <a:p>
            <a:pPr marL="285750" indent="-285750">
              <a:buFont typeface="Arial" panose="020B0604020202020204" pitchFamily="34" charset="0"/>
              <a:buChar char="•"/>
            </a:pPr>
            <a:r>
              <a:rPr lang="en-US" sz="1600" dirty="0">
                <a:solidFill>
                  <a:srgbClr val="0D0D0D"/>
                </a:solidFill>
              </a:rPr>
              <a:t>Bachelor's Degree Holders are Second-highest acceptance rate of coupons.</a:t>
            </a:r>
          </a:p>
          <a:p>
            <a:pPr marL="285750" indent="-285750">
              <a:buFont typeface="Arial" panose="020B0604020202020204" pitchFamily="34" charset="0"/>
              <a:buChar char="•"/>
            </a:pPr>
            <a:r>
              <a:rPr lang="en-US" sz="1600" dirty="0">
                <a:solidFill>
                  <a:srgbClr val="0D0D0D"/>
                </a:solidFill>
              </a:rPr>
              <a:t>High school degree is not important</a:t>
            </a:r>
          </a:p>
        </p:txBody>
      </p:sp>
      <p:cxnSp>
        <p:nvCxnSpPr>
          <p:cNvPr id="8" name="Straight Connector 7">
            <a:extLst>
              <a:ext uri="{FF2B5EF4-FFF2-40B4-BE49-F238E27FC236}">
                <a16:creationId xmlns:a16="http://schemas.microsoft.com/office/drawing/2014/main" id="{5E5A4317-7C23-FB38-1B58-3D455A92CB0C}"/>
              </a:ext>
            </a:extLst>
          </p:cNvPr>
          <p:cNvCxnSpPr>
            <a:cxnSpLocks/>
          </p:cNvCxnSpPr>
          <p:nvPr/>
        </p:nvCxnSpPr>
        <p:spPr>
          <a:xfrm>
            <a:off x="3847959" y="1490820"/>
            <a:ext cx="0" cy="528636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E6D2743-4244-18FD-A853-0E93B48F74B9}"/>
              </a:ext>
            </a:extLst>
          </p:cNvPr>
          <p:cNvCxnSpPr>
            <a:cxnSpLocks/>
          </p:cNvCxnSpPr>
          <p:nvPr/>
        </p:nvCxnSpPr>
        <p:spPr>
          <a:xfrm>
            <a:off x="8197455" y="1490820"/>
            <a:ext cx="0" cy="528636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46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49C03C-40DB-B125-7D8B-D01DEFAD2119}"/>
              </a:ext>
            </a:extLst>
          </p:cNvPr>
          <p:cNvSpPr>
            <a:spLocks noGrp="1"/>
          </p:cNvSpPr>
          <p:nvPr>
            <p:ph type="title"/>
          </p:nvPr>
        </p:nvSpPr>
        <p:spPr/>
        <p:txBody>
          <a:bodyPr/>
          <a:lstStyle/>
          <a:p>
            <a:r>
              <a:rPr lang="en-US" dirty="0"/>
              <a:t>EDA-II</a:t>
            </a:r>
          </a:p>
        </p:txBody>
      </p:sp>
      <p:sp>
        <p:nvSpPr>
          <p:cNvPr id="9" name="TextBox 8">
            <a:extLst>
              <a:ext uri="{FF2B5EF4-FFF2-40B4-BE49-F238E27FC236}">
                <a16:creationId xmlns:a16="http://schemas.microsoft.com/office/drawing/2014/main" id="{29755C1C-59D7-0783-D200-7A8F03A624E2}"/>
              </a:ext>
            </a:extLst>
          </p:cNvPr>
          <p:cNvSpPr txBox="1"/>
          <p:nvPr/>
        </p:nvSpPr>
        <p:spPr>
          <a:xfrm>
            <a:off x="3963929" y="4410651"/>
            <a:ext cx="4470887" cy="2339102"/>
          </a:xfrm>
          <a:prstGeom prst="rect">
            <a:avLst/>
          </a:prstGeom>
          <a:noFill/>
        </p:spPr>
        <p:txBody>
          <a:bodyPr wrap="square" rtlCol="0">
            <a:spAutoFit/>
          </a:bodyPr>
          <a:lstStyle/>
          <a:p>
            <a:pPr algn="l">
              <a:buFont typeface="Arial" panose="020B0604020202020204" pitchFamily="34" charset="0"/>
              <a:buChar char="•"/>
            </a:pPr>
            <a:r>
              <a:rPr lang="en-US" sz="1600" b="0" i="0" u="none" strike="noStrike" dirty="0">
                <a:solidFill>
                  <a:srgbClr val="0D0D0D"/>
                </a:solidFill>
                <a:effectLst/>
              </a:rPr>
              <a:t> ”never" group has highest count for both accepted and rejected outcomes.</a:t>
            </a:r>
          </a:p>
          <a:p>
            <a:pPr>
              <a:buFont typeface="Arial" panose="020B0604020202020204" pitchFamily="34" charset="0"/>
              <a:buChar char="•"/>
            </a:pPr>
            <a:r>
              <a:rPr lang="en-US" sz="1600" b="0" i="0" u="none" strike="noStrike" dirty="0">
                <a:solidFill>
                  <a:srgbClr val="0D0D0D"/>
                </a:solidFill>
                <a:effectLst/>
              </a:rPr>
              <a:t>"1-3" group shows very low counts for both acceptance and rejection, expected due to lack of decision-making independence.</a:t>
            </a:r>
          </a:p>
          <a:p>
            <a:pPr>
              <a:buFont typeface="Arial" panose="020B0604020202020204" pitchFamily="34" charset="0"/>
              <a:buChar char="•"/>
            </a:pPr>
            <a:r>
              <a:rPr lang="en-US" sz="1600" dirty="0">
                <a:solidFill>
                  <a:srgbClr val="0D0D0D"/>
                </a:solidFill>
              </a:rPr>
              <a:t> </a:t>
            </a:r>
            <a:r>
              <a:rPr lang="en-US" sz="1600" b="0" i="0" u="none" strike="noStrike" dirty="0">
                <a:solidFill>
                  <a:srgbClr val="0D0D0D"/>
                </a:solidFill>
                <a:effectLst/>
              </a:rPr>
              <a:t>" never" could be primary target for marketing strategies or interventions related to Outcome Y, given their high engagement.</a:t>
            </a:r>
          </a:p>
          <a:p>
            <a:pPr>
              <a:buFont typeface="Arial" panose="020B0604020202020204" pitchFamily="34" charset="0"/>
              <a:buChar char="•"/>
            </a:pPr>
            <a:endParaRPr lang="en-US" sz="1600" b="0" i="0" u="none" strike="noStrike" dirty="0">
              <a:solidFill>
                <a:srgbClr val="0D0D0D"/>
              </a:solidFill>
              <a:effectLst/>
            </a:endParaRPr>
          </a:p>
        </p:txBody>
      </p:sp>
      <p:sp>
        <p:nvSpPr>
          <p:cNvPr id="10" name="TextBox 9">
            <a:extLst>
              <a:ext uri="{FF2B5EF4-FFF2-40B4-BE49-F238E27FC236}">
                <a16:creationId xmlns:a16="http://schemas.microsoft.com/office/drawing/2014/main" id="{30BBB09F-95B8-B26B-1D79-765DD125E3A3}"/>
              </a:ext>
            </a:extLst>
          </p:cNvPr>
          <p:cNvSpPr txBox="1"/>
          <p:nvPr/>
        </p:nvSpPr>
        <p:spPr>
          <a:xfrm>
            <a:off x="305215" y="1814337"/>
            <a:ext cx="3772155" cy="2123658"/>
          </a:xfrm>
          <a:prstGeom prst="rect">
            <a:avLst/>
          </a:prstGeom>
          <a:noFill/>
        </p:spPr>
        <p:txBody>
          <a:bodyPr wrap="square" rtlCol="0">
            <a:spAutoFit/>
          </a:bodyPr>
          <a:lstStyle/>
          <a:p>
            <a:pPr algn="l">
              <a:buFont typeface="Arial" panose="020B0604020202020204" pitchFamily="34" charset="0"/>
              <a:buChar char="•"/>
            </a:pPr>
            <a:r>
              <a:rPr lang="en-US" sz="1600" b="0" i="0" u="none" strike="noStrike" dirty="0">
                <a:solidFill>
                  <a:srgbClr val="0D0D0D"/>
                </a:solidFill>
                <a:effectLst/>
              </a:rPr>
              <a:t> ”1~3" and "4~8" categories show significantly higher counts for both acceptance and rejection.</a:t>
            </a:r>
          </a:p>
          <a:p>
            <a:pPr>
              <a:buFont typeface="Arial" panose="020B0604020202020204" pitchFamily="34" charset="0"/>
              <a:buChar char="•"/>
            </a:pPr>
            <a:r>
              <a:rPr lang="en-US" sz="1600" dirty="0">
                <a:solidFill>
                  <a:srgbClr val="0D0D0D"/>
                </a:solidFill>
              </a:rPr>
              <a:t> </a:t>
            </a:r>
            <a:r>
              <a:rPr lang="en-US" sz="1600" b="0" i="0" u="none" strike="noStrike" dirty="0">
                <a:solidFill>
                  <a:srgbClr val="0D0D0D"/>
                </a:solidFill>
                <a:effectLst/>
              </a:rPr>
              <a:t>Less frequent interaction with "</a:t>
            </a:r>
            <a:r>
              <a:rPr lang="en-US" sz="1600" b="0" i="0" u="none" strike="noStrike" dirty="0" err="1">
                <a:solidFill>
                  <a:srgbClr val="0D0D0D"/>
                </a:solidFill>
                <a:effectLst/>
              </a:rPr>
              <a:t>CarryAway</a:t>
            </a:r>
            <a:r>
              <a:rPr lang="en-US" sz="1600" b="0" i="0" u="none" strike="noStrike" dirty="0">
                <a:solidFill>
                  <a:srgbClr val="0D0D0D"/>
                </a:solidFill>
                <a:effectLst/>
              </a:rPr>
              <a:t>" linked to lower acceptance and rejection counts.</a:t>
            </a:r>
          </a:p>
          <a:p>
            <a:pPr algn="l">
              <a:buFont typeface="Arial" panose="020B0604020202020204" pitchFamily="34" charset="0"/>
              <a:buChar char="•"/>
            </a:pPr>
            <a:r>
              <a:rPr lang="en-US" sz="1600" b="0" i="0" u="none" strike="noStrike" dirty="0">
                <a:solidFill>
                  <a:srgbClr val="0D0D0D"/>
                </a:solidFill>
                <a:effectLst/>
              </a:rPr>
              <a:t> 1~3 frequent users may be more receptive. </a:t>
            </a:r>
          </a:p>
        </p:txBody>
      </p:sp>
      <p:sp>
        <p:nvSpPr>
          <p:cNvPr id="12" name="TextBox 11">
            <a:extLst>
              <a:ext uri="{FF2B5EF4-FFF2-40B4-BE49-F238E27FC236}">
                <a16:creationId xmlns:a16="http://schemas.microsoft.com/office/drawing/2014/main" id="{B8351266-FF98-6300-724D-68BA37C83538}"/>
              </a:ext>
            </a:extLst>
          </p:cNvPr>
          <p:cNvSpPr txBox="1"/>
          <p:nvPr/>
        </p:nvSpPr>
        <p:spPr>
          <a:xfrm>
            <a:off x="8401599" y="1951362"/>
            <a:ext cx="3772155" cy="1600438"/>
          </a:xfrm>
          <a:prstGeom prst="rect">
            <a:avLst/>
          </a:prstGeom>
          <a:noFill/>
        </p:spPr>
        <p:txBody>
          <a:bodyPr wrap="square" rtlCol="0">
            <a:spAutoFit/>
          </a:bodyPr>
          <a:lstStyle/>
          <a:p>
            <a:pPr>
              <a:buFont typeface="Arial" panose="020B0604020202020204" pitchFamily="34" charset="0"/>
              <a:buChar char="•"/>
            </a:pPr>
            <a:r>
              <a:rPr lang="en-US" sz="1600" b="0" i="0" u="none" strike="noStrike" dirty="0">
                <a:solidFill>
                  <a:srgbClr val="0D0D0D"/>
                </a:solidFill>
                <a:effectLst/>
              </a:rPr>
              <a:t> ”1~3” users shows the highest count to accepted </a:t>
            </a:r>
          </a:p>
          <a:p>
            <a:pPr>
              <a:buFont typeface="Arial" panose="020B0604020202020204" pitchFamily="34" charset="0"/>
              <a:buChar char="•"/>
            </a:pPr>
            <a:r>
              <a:rPr lang="en-US" sz="1600" b="0" i="0" u="none" strike="noStrike" dirty="0">
                <a:solidFill>
                  <a:srgbClr val="0D0D0D"/>
                </a:solidFill>
                <a:effectLst/>
              </a:rPr>
              <a:t>"Never" and "Unknown" categories show lowest counts for both acceptance and rejection.</a:t>
            </a:r>
          </a:p>
          <a:p>
            <a:pPr algn="l"/>
            <a:endParaRPr lang="en-US" b="0" i="0" u="none" strike="noStrike" dirty="0">
              <a:solidFill>
                <a:srgbClr val="0D0D0D"/>
              </a:solidFill>
              <a:effectLst/>
              <a:latin typeface="Söhne"/>
            </a:endParaRPr>
          </a:p>
        </p:txBody>
      </p:sp>
      <p:pic>
        <p:nvPicPr>
          <p:cNvPr id="2" name="图片 1">
            <a:extLst>
              <a:ext uri="{FF2B5EF4-FFF2-40B4-BE49-F238E27FC236}">
                <a16:creationId xmlns:a16="http://schemas.microsoft.com/office/drawing/2014/main" id="{04732561-A23E-8D56-C005-2D2E52C9B2E0}"/>
              </a:ext>
            </a:extLst>
          </p:cNvPr>
          <p:cNvPicPr>
            <a:picLocks noChangeAspect="1"/>
          </p:cNvPicPr>
          <p:nvPr/>
        </p:nvPicPr>
        <p:blipFill>
          <a:blip r:embed="rId3"/>
          <a:stretch>
            <a:fillRect/>
          </a:stretch>
        </p:blipFill>
        <p:spPr>
          <a:xfrm>
            <a:off x="303655" y="4122661"/>
            <a:ext cx="3486748" cy="2616200"/>
          </a:xfrm>
          <a:prstGeom prst="rect">
            <a:avLst/>
          </a:prstGeom>
        </p:spPr>
      </p:pic>
      <p:pic>
        <p:nvPicPr>
          <p:cNvPr id="4" name="图片 3">
            <a:extLst>
              <a:ext uri="{FF2B5EF4-FFF2-40B4-BE49-F238E27FC236}">
                <a16:creationId xmlns:a16="http://schemas.microsoft.com/office/drawing/2014/main" id="{CC0CCB24-F9C3-B062-B8E1-38894B65D3F4}"/>
              </a:ext>
            </a:extLst>
          </p:cNvPr>
          <p:cNvPicPr>
            <a:picLocks noChangeAspect="1"/>
          </p:cNvPicPr>
          <p:nvPr/>
        </p:nvPicPr>
        <p:blipFill>
          <a:blip r:embed="rId4"/>
          <a:stretch>
            <a:fillRect/>
          </a:stretch>
        </p:blipFill>
        <p:spPr>
          <a:xfrm>
            <a:off x="4266447" y="1643611"/>
            <a:ext cx="3485580" cy="2649776"/>
          </a:xfrm>
          <a:prstGeom prst="rect">
            <a:avLst/>
          </a:prstGeom>
        </p:spPr>
      </p:pic>
      <p:pic>
        <p:nvPicPr>
          <p:cNvPr id="7" name="图片 6">
            <a:extLst>
              <a:ext uri="{FF2B5EF4-FFF2-40B4-BE49-F238E27FC236}">
                <a16:creationId xmlns:a16="http://schemas.microsoft.com/office/drawing/2014/main" id="{3F7D8A9D-7452-CD1A-3841-0D843FA306AB}"/>
              </a:ext>
            </a:extLst>
          </p:cNvPr>
          <p:cNvPicPr>
            <a:picLocks noChangeAspect="1"/>
          </p:cNvPicPr>
          <p:nvPr/>
        </p:nvPicPr>
        <p:blipFill>
          <a:blip r:embed="rId5"/>
          <a:stretch>
            <a:fillRect/>
          </a:stretch>
        </p:blipFill>
        <p:spPr>
          <a:xfrm>
            <a:off x="8401599" y="3788276"/>
            <a:ext cx="3451584" cy="2585322"/>
          </a:xfrm>
          <a:prstGeom prst="rect">
            <a:avLst/>
          </a:prstGeom>
        </p:spPr>
      </p:pic>
      <p:cxnSp>
        <p:nvCxnSpPr>
          <p:cNvPr id="11" name="Straight Connector 10">
            <a:extLst>
              <a:ext uri="{FF2B5EF4-FFF2-40B4-BE49-F238E27FC236}">
                <a16:creationId xmlns:a16="http://schemas.microsoft.com/office/drawing/2014/main" id="{97A2A2BA-19A4-C8B7-5DBA-58389C43E7D9}"/>
              </a:ext>
            </a:extLst>
          </p:cNvPr>
          <p:cNvCxnSpPr>
            <a:cxnSpLocks/>
          </p:cNvCxnSpPr>
          <p:nvPr/>
        </p:nvCxnSpPr>
        <p:spPr>
          <a:xfrm>
            <a:off x="8321040" y="1463388"/>
            <a:ext cx="0" cy="539461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FAEFC83-49B0-4ED9-C732-6FBE37587E9E}"/>
              </a:ext>
            </a:extLst>
          </p:cNvPr>
          <p:cNvCxnSpPr>
            <a:cxnSpLocks/>
          </p:cNvCxnSpPr>
          <p:nvPr/>
        </p:nvCxnSpPr>
        <p:spPr>
          <a:xfrm>
            <a:off x="3963929" y="1463388"/>
            <a:ext cx="0" cy="528636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106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49C03C-40DB-B125-7D8B-D01DEFAD2119}"/>
              </a:ext>
            </a:extLst>
          </p:cNvPr>
          <p:cNvSpPr>
            <a:spLocks noGrp="1"/>
          </p:cNvSpPr>
          <p:nvPr>
            <p:ph type="title"/>
          </p:nvPr>
        </p:nvSpPr>
        <p:spPr/>
        <p:txBody>
          <a:bodyPr/>
          <a:lstStyle/>
          <a:p>
            <a:r>
              <a:rPr lang="en-US" dirty="0"/>
              <a:t>EDA-II</a:t>
            </a:r>
          </a:p>
        </p:txBody>
      </p:sp>
      <p:pic>
        <p:nvPicPr>
          <p:cNvPr id="8" name="Picture 7" descr="A graph with green and orange bars&#10;&#10;Description automatically generated">
            <a:extLst>
              <a:ext uri="{FF2B5EF4-FFF2-40B4-BE49-F238E27FC236}">
                <a16:creationId xmlns:a16="http://schemas.microsoft.com/office/drawing/2014/main" id="{3F92941D-EDC3-6201-ECD9-C2661FE88175}"/>
              </a:ext>
            </a:extLst>
          </p:cNvPr>
          <p:cNvPicPr>
            <a:picLocks noChangeAspect="1"/>
          </p:cNvPicPr>
          <p:nvPr/>
        </p:nvPicPr>
        <p:blipFill>
          <a:blip r:embed="rId3"/>
          <a:stretch>
            <a:fillRect/>
          </a:stretch>
        </p:blipFill>
        <p:spPr>
          <a:xfrm>
            <a:off x="6325398" y="1654545"/>
            <a:ext cx="2675368" cy="2010094"/>
          </a:xfrm>
          <a:prstGeom prst="rect">
            <a:avLst/>
          </a:prstGeom>
        </p:spPr>
      </p:pic>
      <p:pic>
        <p:nvPicPr>
          <p:cNvPr id="10" name="Picture 9" descr="A graph with green and orange bars&#10;&#10;Description automatically generated">
            <a:extLst>
              <a:ext uri="{FF2B5EF4-FFF2-40B4-BE49-F238E27FC236}">
                <a16:creationId xmlns:a16="http://schemas.microsoft.com/office/drawing/2014/main" id="{538F2241-82F3-FD91-FCE6-EB76DCC66A26}"/>
              </a:ext>
            </a:extLst>
          </p:cNvPr>
          <p:cNvPicPr>
            <a:picLocks noChangeAspect="1"/>
          </p:cNvPicPr>
          <p:nvPr/>
        </p:nvPicPr>
        <p:blipFill>
          <a:blip r:embed="rId4"/>
          <a:stretch>
            <a:fillRect/>
          </a:stretch>
        </p:blipFill>
        <p:spPr>
          <a:xfrm>
            <a:off x="9212966" y="4262223"/>
            <a:ext cx="2780144" cy="2022812"/>
          </a:xfrm>
          <a:prstGeom prst="rect">
            <a:avLst/>
          </a:prstGeom>
        </p:spPr>
      </p:pic>
      <p:sp>
        <p:nvSpPr>
          <p:cNvPr id="12" name="TextBox 11">
            <a:extLst>
              <a:ext uri="{FF2B5EF4-FFF2-40B4-BE49-F238E27FC236}">
                <a16:creationId xmlns:a16="http://schemas.microsoft.com/office/drawing/2014/main" id="{16561BF7-0AA6-24AC-FD38-01B186B6F8F9}"/>
              </a:ext>
            </a:extLst>
          </p:cNvPr>
          <p:cNvSpPr txBox="1"/>
          <p:nvPr/>
        </p:nvSpPr>
        <p:spPr>
          <a:xfrm>
            <a:off x="0" y="3928937"/>
            <a:ext cx="3069572" cy="3539430"/>
          </a:xfrm>
          <a:prstGeom prst="rect">
            <a:avLst/>
          </a:prstGeom>
          <a:noFill/>
        </p:spPr>
        <p:txBody>
          <a:bodyPr wrap="square" rtlCol="0">
            <a:spAutoFit/>
          </a:bodyPr>
          <a:lstStyle/>
          <a:p>
            <a:pPr algn="l">
              <a:buFont typeface="Arial" panose="020B0604020202020204" pitchFamily="34" charset="0"/>
              <a:buChar char="•"/>
            </a:pPr>
            <a:r>
              <a:rPr lang="en-US" sz="1600" b="0" i="0" u="none" strike="noStrike" dirty="0">
                <a:solidFill>
                  <a:srgbClr val="0D0D0D"/>
                </a:solidFill>
                <a:effectLst/>
              </a:rPr>
              <a:t> Frequency category "1-3 times" shows significantly high acceptance count, suggesting strong engagement.</a:t>
            </a:r>
          </a:p>
          <a:p>
            <a:pPr>
              <a:buFont typeface="Arial" panose="020B0604020202020204" pitchFamily="34" charset="0"/>
              <a:buChar char="•"/>
            </a:pPr>
            <a:r>
              <a:rPr lang="en-US" sz="1600" dirty="0">
                <a:solidFill>
                  <a:srgbClr val="0D0D0D"/>
                </a:solidFill>
              </a:rPr>
              <a:t> </a:t>
            </a:r>
            <a:r>
              <a:rPr lang="en-US" sz="1600" b="0" i="0" u="none" strike="noStrike" dirty="0">
                <a:solidFill>
                  <a:srgbClr val="0D0D0D"/>
                </a:solidFill>
                <a:effectLst/>
              </a:rPr>
              <a:t>Increase in frequency of visits correlates with decline in both acceptance and rejection counts.</a:t>
            </a:r>
          </a:p>
          <a:p>
            <a:pPr>
              <a:buFont typeface="Arial" panose="020B0604020202020204" pitchFamily="34" charset="0"/>
              <a:buChar char="•"/>
            </a:pPr>
            <a:r>
              <a:rPr lang="en-US" sz="1600" b="0" i="0" u="none" strike="noStrike" dirty="0">
                <a:solidFill>
                  <a:srgbClr val="0D0D0D"/>
                </a:solidFill>
                <a:effectLst/>
              </a:rPr>
              <a:t> "Never" and "Unknown" categories exhibit very low counts for both acceptance and rejection.</a:t>
            </a:r>
          </a:p>
          <a:p>
            <a:pPr algn="l">
              <a:buFont typeface="Arial" panose="020B0604020202020204" pitchFamily="34" charset="0"/>
              <a:buChar char="•"/>
            </a:pPr>
            <a:endParaRPr lang="en-US" sz="1600" b="0" i="0" u="none" strike="noStrike" dirty="0">
              <a:solidFill>
                <a:srgbClr val="0D0D0D"/>
              </a:solidFill>
              <a:effectLst/>
            </a:endParaRPr>
          </a:p>
          <a:p>
            <a:pPr marL="342900" indent="-342900">
              <a:buFont typeface="Arial" panose="020B0604020202020204" pitchFamily="34" charset="0"/>
              <a:buChar char="•"/>
            </a:pPr>
            <a:endParaRPr lang="en-US" sz="1600" b="0" i="0" u="none" strike="noStrike" dirty="0">
              <a:solidFill>
                <a:srgbClr val="0D0D0D"/>
              </a:solidFill>
              <a:effectLst/>
            </a:endParaRPr>
          </a:p>
        </p:txBody>
      </p:sp>
      <p:sp>
        <p:nvSpPr>
          <p:cNvPr id="13" name="TextBox 12">
            <a:extLst>
              <a:ext uri="{FF2B5EF4-FFF2-40B4-BE49-F238E27FC236}">
                <a16:creationId xmlns:a16="http://schemas.microsoft.com/office/drawing/2014/main" id="{E3547F4C-3186-24FF-54D8-2CCECD4577B2}"/>
              </a:ext>
            </a:extLst>
          </p:cNvPr>
          <p:cNvSpPr txBox="1"/>
          <p:nvPr/>
        </p:nvSpPr>
        <p:spPr>
          <a:xfrm>
            <a:off x="3255826" y="1645863"/>
            <a:ext cx="2840172" cy="1754326"/>
          </a:xfrm>
          <a:prstGeom prst="rect">
            <a:avLst/>
          </a:prstGeom>
          <a:noFill/>
        </p:spPr>
        <p:txBody>
          <a:bodyPr wrap="square" rtlCol="0">
            <a:spAutoFit/>
          </a:bodyPr>
          <a:lstStyle/>
          <a:p>
            <a:pPr algn="l">
              <a:buFont typeface="Arial" panose="020B0604020202020204" pitchFamily="34" charset="0"/>
              <a:buChar char="•"/>
            </a:pPr>
            <a:r>
              <a:rPr lang="en-US" dirty="0">
                <a:solidFill>
                  <a:srgbClr val="0D0D0D"/>
                </a:solidFill>
              </a:rPr>
              <a:t> “</a:t>
            </a:r>
            <a:r>
              <a:rPr lang="en-US" b="0" i="0" u="none" strike="noStrike" dirty="0">
                <a:solidFill>
                  <a:srgbClr val="0D0D0D"/>
                </a:solidFill>
                <a:effectLst/>
              </a:rPr>
              <a:t>less1 times" frequency category shows highest acceptance count, indicating strong engagement with Outcome Y.</a:t>
            </a:r>
          </a:p>
        </p:txBody>
      </p:sp>
      <p:pic>
        <p:nvPicPr>
          <p:cNvPr id="2" name="图片 1">
            <a:extLst>
              <a:ext uri="{FF2B5EF4-FFF2-40B4-BE49-F238E27FC236}">
                <a16:creationId xmlns:a16="http://schemas.microsoft.com/office/drawing/2014/main" id="{77EBCEA6-247D-54B3-D94F-DC289BD943CB}"/>
              </a:ext>
            </a:extLst>
          </p:cNvPr>
          <p:cNvPicPr>
            <a:picLocks noChangeAspect="1"/>
          </p:cNvPicPr>
          <p:nvPr/>
        </p:nvPicPr>
        <p:blipFill>
          <a:blip r:embed="rId5"/>
          <a:stretch>
            <a:fillRect/>
          </a:stretch>
        </p:blipFill>
        <p:spPr>
          <a:xfrm>
            <a:off x="133560" y="1718889"/>
            <a:ext cx="2768117" cy="2095286"/>
          </a:xfrm>
          <a:prstGeom prst="rect">
            <a:avLst/>
          </a:prstGeom>
        </p:spPr>
      </p:pic>
      <p:pic>
        <p:nvPicPr>
          <p:cNvPr id="4" name="图片 3">
            <a:extLst>
              <a:ext uri="{FF2B5EF4-FFF2-40B4-BE49-F238E27FC236}">
                <a16:creationId xmlns:a16="http://schemas.microsoft.com/office/drawing/2014/main" id="{C3E09C9D-4B5A-72F3-7087-03DAEDB305E5}"/>
              </a:ext>
            </a:extLst>
          </p:cNvPr>
          <p:cNvPicPr>
            <a:picLocks noChangeAspect="1"/>
          </p:cNvPicPr>
          <p:nvPr/>
        </p:nvPicPr>
        <p:blipFill>
          <a:blip r:embed="rId6"/>
          <a:stretch>
            <a:fillRect/>
          </a:stretch>
        </p:blipFill>
        <p:spPr>
          <a:xfrm>
            <a:off x="3274240" y="3664639"/>
            <a:ext cx="2686367" cy="2510691"/>
          </a:xfrm>
          <a:prstGeom prst="rect">
            <a:avLst/>
          </a:prstGeom>
        </p:spPr>
      </p:pic>
      <p:sp>
        <p:nvSpPr>
          <p:cNvPr id="5" name="TextBox 4">
            <a:extLst>
              <a:ext uri="{FF2B5EF4-FFF2-40B4-BE49-F238E27FC236}">
                <a16:creationId xmlns:a16="http://schemas.microsoft.com/office/drawing/2014/main" id="{3424A4A9-6F2A-E69B-08FD-198D0DE6A649}"/>
              </a:ext>
            </a:extLst>
          </p:cNvPr>
          <p:cNvSpPr txBox="1"/>
          <p:nvPr/>
        </p:nvSpPr>
        <p:spPr>
          <a:xfrm>
            <a:off x="6165275" y="3974519"/>
            <a:ext cx="2768117" cy="2308324"/>
          </a:xfrm>
          <a:prstGeom prst="rect">
            <a:avLst/>
          </a:prstGeom>
          <a:noFill/>
        </p:spPr>
        <p:txBody>
          <a:bodyPr wrap="square">
            <a:spAutoFit/>
          </a:bodyPr>
          <a:lstStyle/>
          <a:p>
            <a:pPr algn="l">
              <a:buFont typeface="Arial" panose="020B0604020202020204" pitchFamily="34" charset="0"/>
              <a:buChar char="•"/>
            </a:pPr>
            <a:r>
              <a:rPr lang="en-US" sz="1600" b="0" i="0" u="none" strike="noStrike" dirty="0">
                <a:solidFill>
                  <a:srgbClr val="0D0D0D"/>
                </a:solidFill>
                <a:effectLst/>
              </a:rPr>
              <a:t> "Above 50" age group exhibits substantially higher acceptance count and very few rejections.</a:t>
            </a:r>
          </a:p>
          <a:p>
            <a:pPr>
              <a:buFont typeface="Arial" panose="020B0604020202020204" pitchFamily="34" charset="0"/>
              <a:buChar char="•"/>
            </a:pPr>
            <a:r>
              <a:rPr lang="en-US" sz="1600" dirty="0">
                <a:solidFill>
                  <a:srgbClr val="0D0D0D"/>
                </a:solidFill>
              </a:rPr>
              <a:t> </a:t>
            </a:r>
            <a:r>
              <a:rPr lang="en-US" sz="1600" b="0" i="0" u="none" strike="noStrike" dirty="0">
                <a:solidFill>
                  <a:srgbClr val="0D0D0D"/>
                </a:solidFill>
                <a:effectLst/>
              </a:rPr>
              <a:t>"Above 50" age group shows overwhelming preference for acceptance, indicating strong resonance with Outcome Y.</a:t>
            </a:r>
          </a:p>
        </p:txBody>
      </p:sp>
      <p:sp>
        <p:nvSpPr>
          <p:cNvPr id="9" name="TextBox 8">
            <a:extLst>
              <a:ext uri="{FF2B5EF4-FFF2-40B4-BE49-F238E27FC236}">
                <a16:creationId xmlns:a16="http://schemas.microsoft.com/office/drawing/2014/main" id="{5E7F4790-4E13-47D0-B715-5AF0171F613E}"/>
              </a:ext>
            </a:extLst>
          </p:cNvPr>
          <p:cNvSpPr txBox="1"/>
          <p:nvPr/>
        </p:nvSpPr>
        <p:spPr>
          <a:xfrm>
            <a:off x="9317736" y="1718889"/>
            <a:ext cx="2675374" cy="2554545"/>
          </a:xfrm>
          <a:prstGeom prst="rect">
            <a:avLst/>
          </a:prstGeom>
          <a:noFill/>
        </p:spPr>
        <p:txBody>
          <a:bodyPr wrap="square">
            <a:spAutoFit/>
          </a:bodyPr>
          <a:lstStyle/>
          <a:p>
            <a:pPr>
              <a:buFont typeface="Arial" panose="020B0604020202020204" pitchFamily="34" charset="0"/>
              <a:buChar char="•"/>
            </a:pPr>
            <a:r>
              <a:rPr lang="en-US" sz="1600" b="0" i="0" u="none" strike="noStrike" dirty="0">
                <a:solidFill>
                  <a:srgbClr val="0D0D0D"/>
                </a:solidFill>
                <a:effectLst/>
              </a:rPr>
              <a:t> Morning time slot shows highest number of acceptances, exceeding 2,000 counts.</a:t>
            </a:r>
          </a:p>
          <a:p>
            <a:pPr>
              <a:buFont typeface="Arial" panose="020B0604020202020204" pitchFamily="34" charset="0"/>
              <a:buChar char="•"/>
            </a:pPr>
            <a:r>
              <a:rPr lang="en-US" sz="1600" dirty="0">
                <a:solidFill>
                  <a:srgbClr val="0D0D0D"/>
                </a:solidFill>
              </a:rPr>
              <a:t> </a:t>
            </a:r>
            <a:r>
              <a:rPr lang="en-US" sz="1600" b="0" i="0" u="none" strike="noStrike" dirty="0">
                <a:solidFill>
                  <a:srgbClr val="0D0D0D"/>
                </a:solidFill>
                <a:effectLst/>
              </a:rPr>
              <a:t>Both Afternoon and Night show more rejections than acceptances, indicating less favorability or relevance during these times.</a:t>
            </a:r>
          </a:p>
        </p:txBody>
      </p:sp>
      <p:cxnSp>
        <p:nvCxnSpPr>
          <p:cNvPr id="11" name="Straight Connector 10">
            <a:extLst>
              <a:ext uri="{FF2B5EF4-FFF2-40B4-BE49-F238E27FC236}">
                <a16:creationId xmlns:a16="http://schemas.microsoft.com/office/drawing/2014/main" id="{C84CC96E-4579-B815-9DF2-EA42CEB40A7F}"/>
              </a:ext>
            </a:extLst>
          </p:cNvPr>
          <p:cNvCxnSpPr>
            <a:cxnSpLocks/>
          </p:cNvCxnSpPr>
          <p:nvPr/>
        </p:nvCxnSpPr>
        <p:spPr>
          <a:xfrm>
            <a:off x="3113627" y="1481676"/>
            <a:ext cx="0" cy="528636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5CD97B-5D9E-BBCD-6976-1E8C065A6FF3}"/>
              </a:ext>
            </a:extLst>
          </p:cNvPr>
          <p:cNvCxnSpPr>
            <a:cxnSpLocks/>
          </p:cNvCxnSpPr>
          <p:nvPr/>
        </p:nvCxnSpPr>
        <p:spPr>
          <a:xfrm>
            <a:off x="6133928" y="1481676"/>
            <a:ext cx="0" cy="528636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62C08D1-B3DC-AC35-96CA-185C3A370513}"/>
              </a:ext>
            </a:extLst>
          </p:cNvPr>
          <p:cNvCxnSpPr>
            <a:cxnSpLocks/>
          </p:cNvCxnSpPr>
          <p:nvPr/>
        </p:nvCxnSpPr>
        <p:spPr>
          <a:xfrm>
            <a:off x="9078327" y="1489441"/>
            <a:ext cx="0" cy="528636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125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3EC5-AA00-9500-4E43-27EFE022AC2A}"/>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008D88F-557F-BEA3-0515-B41DFC542319}"/>
              </a:ext>
            </a:extLst>
          </p:cNvPr>
          <p:cNvPicPr>
            <a:picLocks noGrp="1" noChangeAspect="1"/>
          </p:cNvPicPr>
          <p:nvPr>
            <p:ph type="pic" sz="quarter" idx="10"/>
          </p:nvPr>
        </p:nvPicPr>
        <p:blipFill>
          <a:blip r:embed="rId2"/>
          <a:srcRect l="20342" r="20342"/>
          <a:stretch/>
        </p:blipFill>
        <p:spPr/>
      </p:pic>
      <p:sp>
        <p:nvSpPr>
          <p:cNvPr id="7" name="Title 1">
            <a:extLst>
              <a:ext uri="{FF2B5EF4-FFF2-40B4-BE49-F238E27FC236}">
                <a16:creationId xmlns:a16="http://schemas.microsoft.com/office/drawing/2014/main" id="{AA5F2B17-A221-C07E-DFD6-9D3B5EE25C36}"/>
              </a:ext>
            </a:extLst>
          </p:cNvPr>
          <p:cNvSpPr>
            <a:spLocks noGrp="1"/>
          </p:cNvSpPr>
          <p:nvPr>
            <p:ph type="ctrTitle"/>
          </p:nvPr>
        </p:nvSpPr>
        <p:spPr>
          <a:xfrm>
            <a:off x="545592" y="1965024"/>
            <a:ext cx="6400800" cy="2560320"/>
          </a:xfrm>
        </p:spPr>
        <p:txBody>
          <a:bodyPr/>
          <a:lstStyle/>
          <a:p>
            <a:r>
              <a:rPr lang="en-US" dirty="0"/>
              <a:t>Feature Engineering</a:t>
            </a:r>
          </a:p>
        </p:txBody>
      </p:sp>
    </p:spTree>
    <p:extLst>
      <p:ext uri="{BB962C8B-B14F-4D97-AF65-F5344CB8AC3E}">
        <p14:creationId xmlns:p14="http://schemas.microsoft.com/office/powerpoint/2010/main" val="938039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2462-34E0-DB6E-4720-EA0CB55C581A}"/>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E30C4E61-FB6D-2CF5-523B-8066C1361B9B}"/>
              </a:ext>
            </a:extLst>
          </p:cNvPr>
          <p:cNvSpPr>
            <a:spLocks noGrp="1"/>
          </p:cNvSpPr>
          <p:nvPr>
            <p:ph idx="1"/>
          </p:nvPr>
        </p:nvSpPr>
        <p:spPr/>
        <p:txBody>
          <a:bodyPr/>
          <a:lstStyle/>
          <a:p>
            <a:pPr marL="457200" indent="-457200">
              <a:buFont typeface="+mj-lt"/>
              <a:buAutoNum type="arabicPeriod"/>
            </a:pPr>
            <a:r>
              <a:rPr lang="en-US" dirty="0"/>
              <a:t>Converted characters to factors.</a:t>
            </a:r>
          </a:p>
          <a:p>
            <a:pPr marL="457200" indent="-457200">
              <a:buFont typeface="+mj-lt"/>
              <a:buAutoNum type="arabicPeriod"/>
            </a:pPr>
            <a:r>
              <a:rPr lang="en-US" dirty="0"/>
              <a:t>Created a data frame consisting of columns of interest.</a:t>
            </a:r>
          </a:p>
          <a:p>
            <a:pPr marL="457200" indent="-457200">
              <a:buFont typeface="+mj-lt"/>
              <a:buAutoNum type="arabicPeriod"/>
            </a:pPr>
            <a:r>
              <a:rPr lang="en-US" dirty="0"/>
              <a:t>Filled blank data with an Unknown string for </a:t>
            </a:r>
            <a:r>
              <a:rPr lang="en-US" dirty="0" err="1"/>
              <a:t>CarryAway</a:t>
            </a:r>
            <a:r>
              <a:rPr lang="en-US" dirty="0"/>
              <a:t>, Bar, </a:t>
            </a:r>
            <a:r>
              <a:rPr lang="en-US" dirty="0" err="1"/>
              <a:t>CoffeeHouse</a:t>
            </a:r>
            <a:r>
              <a:rPr lang="en-US" dirty="0"/>
              <a:t>, Restaurant20To50, RestaurantLessThan20</a:t>
            </a:r>
          </a:p>
          <a:p>
            <a:pPr marL="457200" indent="-457200">
              <a:buFont typeface="+mj-lt"/>
              <a:buAutoNum type="arabicPeriod"/>
            </a:pPr>
            <a:r>
              <a:rPr lang="en-US" dirty="0"/>
              <a:t>Divided Age Group into 2 parts 50 Above and 50 Below.</a:t>
            </a:r>
          </a:p>
          <a:p>
            <a:pPr marL="457200" indent="-457200">
              <a:buFont typeface="+mj-lt"/>
              <a:buAutoNum type="arabicPeriod"/>
            </a:pPr>
            <a:r>
              <a:rPr lang="en-US" dirty="0"/>
              <a:t>Converted Time into 4 categories: Morning, Afternoon, Evening, and Night.</a:t>
            </a:r>
          </a:p>
          <a:p>
            <a:endParaRPr lang="en-US" dirty="0"/>
          </a:p>
          <a:p>
            <a:endParaRPr lang="en-US" dirty="0"/>
          </a:p>
        </p:txBody>
      </p:sp>
    </p:spTree>
    <p:extLst>
      <p:ext uri="{BB962C8B-B14F-4D97-AF65-F5344CB8AC3E}">
        <p14:creationId xmlns:p14="http://schemas.microsoft.com/office/powerpoint/2010/main" val="180855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 </a:t>
            </a:r>
          </a:p>
        </p:txBody>
      </p:sp>
      <p:sp>
        <p:nvSpPr>
          <p:cNvPr id="30" name="Google Shape;158;p24">
            <a:extLst>
              <a:ext uri="{FF2B5EF4-FFF2-40B4-BE49-F238E27FC236}">
                <a16:creationId xmlns:a16="http://schemas.microsoft.com/office/drawing/2014/main" id="{E3D964C2-61DF-FE14-B3AC-47763269D0D4}"/>
              </a:ext>
            </a:extLst>
          </p:cNvPr>
          <p:cNvSpPr txBox="1"/>
          <p:nvPr/>
        </p:nvSpPr>
        <p:spPr>
          <a:xfrm>
            <a:off x="1978983" y="5764832"/>
            <a:ext cx="2615143"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Time of Day</a:t>
            </a:r>
          </a:p>
        </p:txBody>
      </p:sp>
      <p:cxnSp>
        <p:nvCxnSpPr>
          <p:cNvPr id="31" name="Google Shape;168;p24">
            <a:extLst>
              <a:ext uri="{FF2B5EF4-FFF2-40B4-BE49-F238E27FC236}">
                <a16:creationId xmlns:a16="http://schemas.microsoft.com/office/drawing/2014/main" id="{76F8FDE1-FAEB-99C6-73FD-0540F1187079}"/>
              </a:ext>
            </a:extLst>
          </p:cNvPr>
          <p:cNvCxnSpPr>
            <a:cxnSpLocks/>
            <a:stCxn id="12" idx="2"/>
          </p:cNvCxnSpPr>
          <p:nvPr/>
        </p:nvCxnSpPr>
        <p:spPr>
          <a:xfrm flipH="1">
            <a:off x="1223526" y="3358333"/>
            <a:ext cx="1977164" cy="1003720"/>
          </a:xfrm>
          <a:prstGeom prst="straightConnector1">
            <a:avLst/>
          </a:prstGeom>
          <a:noFill/>
          <a:ln w="9525" cap="flat" cmpd="sng">
            <a:solidFill>
              <a:schemeClr val="dk2"/>
            </a:solidFill>
            <a:prstDash val="solid"/>
            <a:round/>
            <a:headEnd type="none" w="med" len="med"/>
            <a:tailEnd type="arrow" w="med" len="med"/>
          </a:ln>
        </p:spPr>
      </p:cxnSp>
      <p:sp>
        <p:nvSpPr>
          <p:cNvPr id="34" name="Google Shape;172;p24">
            <a:extLst>
              <a:ext uri="{FF2B5EF4-FFF2-40B4-BE49-F238E27FC236}">
                <a16:creationId xmlns:a16="http://schemas.microsoft.com/office/drawing/2014/main" id="{87D9F673-BE48-EF69-D9EC-067E306831E1}"/>
              </a:ext>
            </a:extLst>
          </p:cNvPr>
          <p:cNvSpPr txBox="1"/>
          <p:nvPr/>
        </p:nvSpPr>
        <p:spPr>
          <a:xfrm>
            <a:off x="6936349" y="2921978"/>
            <a:ext cx="1084307"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AGE</a:t>
            </a:r>
            <a:endParaRPr b="1" dirty="0">
              <a:solidFill>
                <a:schemeClr val="bg1"/>
              </a:solidFill>
              <a:latin typeface="Montserrat"/>
              <a:ea typeface="Montserrat"/>
              <a:cs typeface="Montserrat"/>
              <a:sym typeface="Montserrat"/>
            </a:endParaRPr>
          </a:p>
        </p:txBody>
      </p:sp>
      <p:sp>
        <p:nvSpPr>
          <p:cNvPr id="35" name="Google Shape;173;p24">
            <a:extLst>
              <a:ext uri="{FF2B5EF4-FFF2-40B4-BE49-F238E27FC236}">
                <a16:creationId xmlns:a16="http://schemas.microsoft.com/office/drawing/2014/main" id="{EEA37B07-ED05-C8DE-EA45-1A9099E11541}"/>
              </a:ext>
            </a:extLst>
          </p:cNvPr>
          <p:cNvSpPr txBox="1"/>
          <p:nvPr/>
        </p:nvSpPr>
        <p:spPr>
          <a:xfrm>
            <a:off x="6507567" y="4782785"/>
            <a:ext cx="951929" cy="35391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dirty="0">
                <a:latin typeface="Montserrat"/>
                <a:ea typeface="Montserrat"/>
                <a:cs typeface="Montserrat"/>
                <a:sym typeface="Montserrat"/>
              </a:rPr>
              <a:t>50 Above</a:t>
            </a:r>
            <a:endParaRPr sz="1100" b="1" dirty="0">
              <a:latin typeface="Montserrat"/>
              <a:ea typeface="Montserrat"/>
              <a:cs typeface="Montserrat"/>
              <a:sym typeface="Montserrat"/>
            </a:endParaRPr>
          </a:p>
        </p:txBody>
      </p:sp>
      <p:cxnSp>
        <p:nvCxnSpPr>
          <p:cNvPr id="36" name="Google Shape;168;p24">
            <a:extLst>
              <a:ext uri="{FF2B5EF4-FFF2-40B4-BE49-F238E27FC236}">
                <a16:creationId xmlns:a16="http://schemas.microsoft.com/office/drawing/2014/main" id="{C8D79CF8-2F3C-4772-C0FD-4E5E35A9F17D}"/>
              </a:ext>
            </a:extLst>
          </p:cNvPr>
          <p:cNvCxnSpPr>
            <a:cxnSpLocks/>
            <a:stCxn id="34" idx="2"/>
          </p:cNvCxnSpPr>
          <p:nvPr/>
        </p:nvCxnSpPr>
        <p:spPr>
          <a:xfrm flipH="1">
            <a:off x="6847975" y="3383613"/>
            <a:ext cx="630528" cy="1377945"/>
          </a:xfrm>
          <a:prstGeom prst="straightConnector1">
            <a:avLst/>
          </a:prstGeom>
          <a:noFill/>
          <a:ln w="9525" cap="flat" cmpd="sng">
            <a:solidFill>
              <a:schemeClr val="dk2"/>
            </a:solidFill>
            <a:prstDash val="solid"/>
            <a:round/>
            <a:headEnd type="none" w="med" len="med"/>
            <a:tailEnd type="arrow" w="med" len="med"/>
          </a:ln>
        </p:spPr>
      </p:cxnSp>
      <p:cxnSp>
        <p:nvCxnSpPr>
          <p:cNvPr id="37" name="Google Shape;168;p24">
            <a:extLst>
              <a:ext uri="{FF2B5EF4-FFF2-40B4-BE49-F238E27FC236}">
                <a16:creationId xmlns:a16="http://schemas.microsoft.com/office/drawing/2014/main" id="{CBE20C1E-50F4-829D-3E14-39AA10E442F5}"/>
              </a:ext>
            </a:extLst>
          </p:cNvPr>
          <p:cNvCxnSpPr>
            <a:cxnSpLocks/>
            <a:stCxn id="34" idx="2"/>
          </p:cNvCxnSpPr>
          <p:nvPr/>
        </p:nvCxnSpPr>
        <p:spPr>
          <a:xfrm>
            <a:off x="7478503" y="3383613"/>
            <a:ext cx="743867" cy="1379528"/>
          </a:xfrm>
          <a:prstGeom prst="straightConnector1">
            <a:avLst/>
          </a:prstGeom>
          <a:noFill/>
          <a:ln w="9525" cap="flat" cmpd="sng">
            <a:solidFill>
              <a:schemeClr val="dk2"/>
            </a:solidFill>
            <a:prstDash val="solid"/>
            <a:round/>
            <a:headEnd type="none" w="med" len="med"/>
            <a:tailEnd type="arrow" w="med" len="med"/>
          </a:ln>
        </p:spPr>
      </p:cxnSp>
      <p:sp>
        <p:nvSpPr>
          <p:cNvPr id="49" name="Google Shape;173;p24">
            <a:extLst>
              <a:ext uri="{FF2B5EF4-FFF2-40B4-BE49-F238E27FC236}">
                <a16:creationId xmlns:a16="http://schemas.microsoft.com/office/drawing/2014/main" id="{6F658C70-EA02-E28D-2404-9D9650EA045B}"/>
              </a:ext>
            </a:extLst>
          </p:cNvPr>
          <p:cNvSpPr txBox="1"/>
          <p:nvPr/>
        </p:nvSpPr>
        <p:spPr>
          <a:xfrm>
            <a:off x="7934359" y="4792661"/>
            <a:ext cx="860727" cy="35391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dirty="0">
                <a:latin typeface="Montserrat"/>
                <a:ea typeface="Montserrat"/>
                <a:cs typeface="Montserrat"/>
                <a:sym typeface="Montserrat"/>
              </a:rPr>
              <a:t>50 Below</a:t>
            </a:r>
            <a:endParaRPr sz="1100" b="1" dirty="0">
              <a:latin typeface="Montserrat"/>
              <a:ea typeface="Montserrat"/>
              <a:cs typeface="Montserrat"/>
              <a:sym typeface="Montserrat"/>
            </a:endParaRPr>
          </a:p>
        </p:txBody>
      </p:sp>
      <p:sp>
        <p:nvSpPr>
          <p:cNvPr id="55" name="Google Shape;158;p24">
            <a:extLst>
              <a:ext uri="{FF2B5EF4-FFF2-40B4-BE49-F238E27FC236}">
                <a16:creationId xmlns:a16="http://schemas.microsoft.com/office/drawing/2014/main" id="{D1169299-9D70-FE5D-5139-D01CFA5BE107}"/>
              </a:ext>
            </a:extLst>
          </p:cNvPr>
          <p:cNvSpPr txBox="1"/>
          <p:nvPr/>
        </p:nvSpPr>
        <p:spPr>
          <a:xfrm>
            <a:off x="507030" y="4920204"/>
            <a:ext cx="1307134"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Morning</a:t>
            </a:r>
          </a:p>
        </p:txBody>
      </p:sp>
      <p:cxnSp>
        <p:nvCxnSpPr>
          <p:cNvPr id="57" name="Google Shape;168;p24">
            <a:extLst>
              <a:ext uri="{FF2B5EF4-FFF2-40B4-BE49-F238E27FC236}">
                <a16:creationId xmlns:a16="http://schemas.microsoft.com/office/drawing/2014/main" id="{F12978BC-A4FC-995A-2DCF-190F0D84F270}"/>
              </a:ext>
            </a:extLst>
          </p:cNvPr>
          <p:cNvCxnSpPr>
            <a:cxnSpLocks/>
            <a:stCxn id="12" idx="2"/>
            <a:endCxn id="7" idx="0"/>
          </p:cNvCxnSpPr>
          <p:nvPr/>
        </p:nvCxnSpPr>
        <p:spPr>
          <a:xfrm flipH="1">
            <a:off x="2609892" y="3358333"/>
            <a:ext cx="590798" cy="1035759"/>
          </a:xfrm>
          <a:prstGeom prst="straightConnector1">
            <a:avLst/>
          </a:prstGeom>
          <a:noFill/>
          <a:ln w="9525" cap="flat" cmpd="sng">
            <a:solidFill>
              <a:schemeClr val="dk2"/>
            </a:solidFill>
            <a:prstDash val="solid"/>
            <a:round/>
            <a:headEnd type="none" w="med" len="med"/>
            <a:tailEnd type="arrow" w="med" len="med"/>
          </a:ln>
        </p:spPr>
      </p:cxnSp>
      <p:sp>
        <p:nvSpPr>
          <p:cNvPr id="58" name="Google Shape;158;p24">
            <a:extLst>
              <a:ext uri="{FF2B5EF4-FFF2-40B4-BE49-F238E27FC236}">
                <a16:creationId xmlns:a16="http://schemas.microsoft.com/office/drawing/2014/main" id="{62524D51-E933-B4A2-491A-9CB8A088D08B}"/>
              </a:ext>
            </a:extLst>
          </p:cNvPr>
          <p:cNvSpPr txBox="1"/>
          <p:nvPr/>
        </p:nvSpPr>
        <p:spPr>
          <a:xfrm>
            <a:off x="1893118" y="4948034"/>
            <a:ext cx="1408767"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Afternoon</a:t>
            </a:r>
          </a:p>
        </p:txBody>
      </p:sp>
      <p:cxnSp>
        <p:nvCxnSpPr>
          <p:cNvPr id="59" name="Google Shape;168;p24">
            <a:extLst>
              <a:ext uri="{FF2B5EF4-FFF2-40B4-BE49-F238E27FC236}">
                <a16:creationId xmlns:a16="http://schemas.microsoft.com/office/drawing/2014/main" id="{7AA49309-2AF6-C62F-5B87-57416883BAED}"/>
              </a:ext>
            </a:extLst>
          </p:cNvPr>
          <p:cNvCxnSpPr>
            <a:cxnSpLocks/>
            <a:stCxn id="12" idx="2"/>
          </p:cNvCxnSpPr>
          <p:nvPr/>
        </p:nvCxnSpPr>
        <p:spPr>
          <a:xfrm>
            <a:off x="3200690" y="3358333"/>
            <a:ext cx="1902854" cy="998254"/>
          </a:xfrm>
          <a:prstGeom prst="straightConnector1">
            <a:avLst/>
          </a:prstGeom>
          <a:noFill/>
          <a:ln w="9525" cap="flat" cmpd="sng">
            <a:solidFill>
              <a:schemeClr val="dk2"/>
            </a:solidFill>
            <a:prstDash val="solid"/>
            <a:round/>
            <a:headEnd type="none" w="med" len="med"/>
            <a:tailEnd type="arrow" w="med" len="med"/>
          </a:ln>
        </p:spPr>
      </p:cxnSp>
      <p:sp>
        <p:nvSpPr>
          <p:cNvPr id="60" name="Google Shape;158;p24">
            <a:extLst>
              <a:ext uri="{FF2B5EF4-FFF2-40B4-BE49-F238E27FC236}">
                <a16:creationId xmlns:a16="http://schemas.microsoft.com/office/drawing/2014/main" id="{B4F1B3C9-7F62-82AD-2AA2-345B67E3438F}"/>
              </a:ext>
            </a:extLst>
          </p:cNvPr>
          <p:cNvSpPr txBox="1"/>
          <p:nvPr/>
        </p:nvSpPr>
        <p:spPr>
          <a:xfrm>
            <a:off x="4765594" y="4924169"/>
            <a:ext cx="1182213"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Night</a:t>
            </a:r>
          </a:p>
        </p:txBody>
      </p:sp>
      <p:cxnSp>
        <p:nvCxnSpPr>
          <p:cNvPr id="61" name="Google Shape;168;p24">
            <a:extLst>
              <a:ext uri="{FF2B5EF4-FFF2-40B4-BE49-F238E27FC236}">
                <a16:creationId xmlns:a16="http://schemas.microsoft.com/office/drawing/2014/main" id="{8214BA91-3C68-3BF0-85A5-E86A86FB06DC}"/>
              </a:ext>
            </a:extLst>
          </p:cNvPr>
          <p:cNvCxnSpPr>
            <a:cxnSpLocks/>
            <a:stCxn id="12" idx="2"/>
          </p:cNvCxnSpPr>
          <p:nvPr/>
        </p:nvCxnSpPr>
        <p:spPr>
          <a:xfrm>
            <a:off x="3200690" y="3358333"/>
            <a:ext cx="800631" cy="998254"/>
          </a:xfrm>
          <a:prstGeom prst="straightConnector1">
            <a:avLst/>
          </a:prstGeom>
          <a:noFill/>
          <a:ln w="9525" cap="flat" cmpd="sng">
            <a:solidFill>
              <a:schemeClr val="dk2"/>
            </a:solidFill>
            <a:prstDash val="solid"/>
            <a:round/>
            <a:headEnd type="none" w="med" len="med"/>
            <a:tailEnd type="arrow" w="med" len="med"/>
          </a:ln>
        </p:spPr>
      </p:cxnSp>
      <p:sp>
        <p:nvSpPr>
          <p:cNvPr id="62" name="Google Shape;158;p24">
            <a:extLst>
              <a:ext uri="{FF2B5EF4-FFF2-40B4-BE49-F238E27FC236}">
                <a16:creationId xmlns:a16="http://schemas.microsoft.com/office/drawing/2014/main" id="{FBCEBD74-551E-B4A5-2A6B-EE306C52ABCA}"/>
              </a:ext>
            </a:extLst>
          </p:cNvPr>
          <p:cNvSpPr txBox="1"/>
          <p:nvPr/>
        </p:nvSpPr>
        <p:spPr>
          <a:xfrm>
            <a:off x="3420662" y="4948034"/>
            <a:ext cx="1182213"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Evening</a:t>
            </a:r>
          </a:p>
        </p:txBody>
      </p:sp>
      <p:sp>
        <p:nvSpPr>
          <p:cNvPr id="4" name="Google Shape;158;p24">
            <a:extLst>
              <a:ext uri="{FF2B5EF4-FFF2-40B4-BE49-F238E27FC236}">
                <a16:creationId xmlns:a16="http://schemas.microsoft.com/office/drawing/2014/main" id="{D14CAADA-A940-4882-4F86-9E57B1906426}"/>
              </a:ext>
            </a:extLst>
          </p:cNvPr>
          <p:cNvSpPr txBox="1"/>
          <p:nvPr/>
        </p:nvSpPr>
        <p:spPr>
          <a:xfrm>
            <a:off x="6593733" y="5662336"/>
            <a:ext cx="2615143" cy="507801"/>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sz="1050" b="1" dirty="0">
                <a:solidFill>
                  <a:schemeClr val="bg1"/>
                </a:solidFill>
                <a:latin typeface="Montserrat"/>
                <a:ea typeface="Montserrat"/>
                <a:cs typeface="Montserrat"/>
                <a:sym typeface="Montserrat"/>
              </a:rPr>
              <a:t>50 Above – 1378 </a:t>
            </a:r>
          </a:p>
          <a:p>
            <a:pPr marL="0" lvl="0" indent="0" algn="ctr" rtl="0">
              <a:spcBef>
                <a:spcPts val="0"/>
              </a:spcBef>
              <a:spcAft>
                <a:spcPts val="0"/>
              </a:spcAft>
              <a:buNone/>
            </a:pPr>
            <a:r>
              <a:rPr lang="en" sz="1050" b="1" dirty="0">
                <a:solidFill>
                  <a:schemeClr val="bg1"/>
                </a:solidFill>
                <a:latin typeface="Montserrat"/>
                <a:ea typeface="Montserrat"/>
                <a:cs typeface="Montserrat"/>
                <a:sym typeface="Montserrat"/>
              </a:rPr>
              <a:t>50 Below – 8622</a:t>
            </a:r>
          </a:p>
        </p:txBody>
      </p:sp>
      <p:sp>
        <p:nvSpPr>
          <p:cNvPr id="6" name="Google Shape;158;p24">
            <a:extLst>
              <a:ext uri="{FF2B5EF4-FFF2-40B4-BE49-F238E27FC236}">
                <a16:creationId xmlns:a16="http://schemas.microsoft.com/office/drawing/2014/main" id="{70D9DCD5-9246-CC9A-F2B1-50EF963E1851}"/>
              </a:ext>
            </a:extLst>
          </p:cNvPr>
          <p:cNvSpPr txBox="1"/>
          <p:nvPr/>
        </p:nvSpPr>
        <p:spPr>
          <a:xfrm>
            <a:off x="525280" y="4391606"/>
            <a:ext cx="1307134" cy="400079"/>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dirty="0">
                <a:solidFill>
                  <a:schemeClr val="bg1"/>
                </a:solidFill>
                <a:latin typeface="Montserrat"/>
                <a:ea typeface="Montserrat"/>
                <a:cs typeface="Montserrat"/>
                <a:sym typeface="Montserrat"/>
              </a:rPr>
              <a:t>7AM, 10 AM</a:t>
            </a:r>
            <a:endParaRPr lang="en" b="1" dirty="0">
              <a:solidFill>
                <a:schemeClr val="bg1"/>
              </a:solidFill>
              <a:latin typeface="Montserrat"/>
              <a:ea typeface="Montserrat"/>
              <a:cs typeface="Montserrat"/>
              <a:sym typeface="Montserrat"/>
            </a:endParaRPr>
          </a:p>
        </p:txBody>
      </p:sp>
      <p:sp>
        <p:nvSpPr>
          <p:cNvPr id="7" name="Google Shape;158;p24">
            <a:extLst>
              <a:ext uri="{FF2B5EF4-FFF2-40B4-BE49-F238E27FC236}">
                <a16:creationId xmlns:a16="http://schemas.microsoft.com/office/drawing/2014/main" id="{10A546CE-7A46-4CDA-D125-8B04D0D11C3C}"/>
              </a:ext>
            </a:extLst>
          </p:cNvPr>
          <p:cNvSpPr txBox="1"/>
          <p:nvPr/>
        </p:nvSpPr>
        <p:spPr>
          <a:xfrm>
            <a:off x="1898646" y="4394092"/>
            <a:ext cx="1422491" cy="400079"/>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dirty="0">
                <a:solidFill>
                  <a:schemeClr val="bg1"/>
                </a:solidFill>
                <a:latin typeface="Montserrat"/>
                <a:ea typeface="Montserrat"/>
                <a:cs typeface="Montserrat"/>
                <a:sym typeface="Montserrat"/>
              </a:rPr>
              <a:t>2 PM</a:t>
            </a:r>
            <a:endParaRPr lang="en" b="1" dirty="0">
              <a:solidFill>
                <a:schemeClr val="bg1"/>
              </a:solidFill>
              <a:latin typeface="Montserrat"/>
              <a:ea typeface="Montserrat"/>
              <a:cs typeface="Montserrat"/>
              <a:sym typeface="Montserrat"/>
            </a:endParaRPr>
          </a:p>
        </p:txBody>
      </p:sp>
      <p:sp>
        <p:nvSpPr>
          <p:cNvPr id="8" name="Google Shape;158;p24">
            <a:extLst>
              <a:ext uri="{FF2B5EF4-FFF2-40B4-BE49-F238E27FC236}">
                <a16:creationId xmlns:a16="http://schemas.microsoft.com/office/drawing/2014/main" id="{8A6B44E0-A86E-8331-CCA0-43BA7372DCC5}"/>
              </a:ext>
            </a:extLst>
          </p:cNvPr>
          <p:cNvSpPr txBox="1"/>
          <p:nvPr/>
        </p:nvSpPr>
        <p:spPr>
          <a:xfrm>
            <a:off x="3408733" y="4391605"/>
            <a:ext cx="1160200" cy="400079"/>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dirty="0">
                <a:solidFill>
                  <a:schemeClr val="bg1"/>
                </a:solidFill>
                <a:latin typeface="Montserrat"/>
                <a:ea typeface="Montserrat"/>
                <a:cs typeface="Montserrat"/>
                <a:sym typeface="Montserrat"/>
              </a:rPr>
              <a:t>6 PM</a:t>
            </a:r>
            <a:endParaRPr lang="en" b="1" dirty="0">
              <a:solidFill>
                <a:schemeClr val="bg1"/>
              </a:solidFill>
              <a:latin typeface="Montserrat"/>
              <a:ea typeface="Montserrat"/>
              <a:cs typeface="Montserrat"/>
              <a:sym typeface="Montserrat"/>
            </a:endParaRPr>
          </a:p>
        </p:txBody>
      </p:sp>
      <p:sp>
        <p:nvSpPr>
          <p:cNvPr id="9" name="Google Shape;158;p24">
            <a:extLst>
              <a:ext uri="{FF2B5EF4-FFF2-40B4-BE49-F238E27FC236}">
                <a16:creationId xmlns:a16="http://schemas.microsoft.com/office/drawing/2014/main" id="{86B8498D-30A3-9758-7D31-3450CDF2961E}"/>
              </a:ext>
            </a:extLst>
          </p:cNvPr>
          <p:cNvSpPr txBox="1"/>
          <p:nvPr/>
        </p:nvSpPr>
        <p:spPr>
          <a:xfrm>
            <a:off x="4743550" y="4379767"/>
            <a:ext cx="1160200" cy="400079"/>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dirty="0">
                <a:solidFill>
                  <a:schemeClr val="bg1"/>
                </a:solidFill>
                <a:latin typeface="Montserrat"/>
                <a:ea typeface="Montserrat"/>
                <a:cs typeface="Montserrat"/>
                <a:sym typeface="Montserrat"/>
              </a:rPr>
              <a:t>10 PM</a:t>
            </a:r>
            <a:endParaRPr lang="en" b="1" dirty="0">
              <a:solidFill>
                <a:schemeClr val="bg1"/>
              </a:solidFill>
              <a:latin typeface="Montserrat"/>
              <a:ea typeface="Montserrat"/>
              <a:cs typeface="Montserrat"/>
              <a:sym typeface="Montserrat"/>
            </a:endParaRPr>
          </a:p>
        </p:txBody>
      </p:sp>
      <p:sp>
        <p:nvSpPr>
          <p:cNvPr id="12" name="Google Shape;158;p24">
            <a:extLst>
              <a:ext uri="{FF2B5EF4-FFF2-40B4-BE49-F238E27FC236}">
                <a16:creationId xmlns:a16="http://schemas.microsoft.com/office/drawing/2014/main" id="{67CC928C-0B64-00A2-D5E3-7F97ACEF9833}"/>
              </a:ext>
            </a:extLst>
          </p:cNvPr>
          <p:cNvSpPr txBox="1"/>
          <p:nvPr/>
        </p:nvSpPr>
        <p:spPr>
          <a:xfrm>
            <a:off x="1893118" y="2896698"/>
            <a:ext cx="2615143" cy="461635"/>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bg1"/>
                </a:solidFill>
                <a:latin typeface="Montserrat"/>
                <a:ea typeface="Montserrat"/>
                <a:cs typeface="Montserrat"/>
                <a:sym typeface="Montserrat"/>
              </a:rPr>
              <a:t>Time</a:t>
            </a:r>
          </a:p>
        </p:txBody>
      </p:sp>
      <p:sp>
        <p:nvSpPr>
          <p:cNvPr id="3" name="Google Shape;172;p24">
            <a:extLst>
              <a:ext uri="{FF2B5EF4-FFF2-40B4-BE49-F238E27FC236}">
                <a16:creationId xmlns:a16="http://schemas.microsoft.com/office/drawing/2014/main" id="{0152918E-4A09-CAA2-894B-B33A3946007D}"/>
              </a:ext>
            </a:extLst>
          </p:cNvPr>
          <p:cNvSpPr txBox="1"/>
          <p:nvPr/>
        </p:nvSpPr>
        <p:spPr>
          <a:xfrm>
            <a:off x="9375555" y="2814256"/>
            <a:ext cx="2554779" cy="677078"/>
          </a:xfrm>
          <a:prstGeom prst="rect">
            <a:avLst/>
          </a:prstGeom>
          <a:solidFill>
            <a:schemeClr val="accent1"/>
          </a:solidFill>
          <a:ln>
            <a:solidFill>
              <a:schemeClr val="accent1"/>
            </a:solid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chemeClr val="bg1"/>
                </a:solidFill>
                <a:latin typeface="Montserrat"/>
                <a:ea typeface="Montserrat"/>
                <a:cs typeface="Montserrat"/>
                <a:sym typeface="Montserrat"/>
              </a:rPr>
              <a:t>Bar, Coffee, Car away, Restaurant columns</a:t>
            </a:r>
            <a:endParaRPr b="1" dirty="0">
              <a:solidFill>
                <a:schemeClr val="bg1"/>
              </a:solidFill>
              <a:latin typeface="Montserrat"/>
              <a:ea typeface="Montserrat"/>
              <a:cs typeface="Montserrat"/>
              <a:sym typeface="Montserrat"/>
            </a:endParaRPr>
          </a:p>
        </p:txBody>
      </p:sp>
      <p:pic>
        <p:nvPicPr>
          <p:cNvPr id="5" name="Google Shape;170;p24">
            <a:extLst>
              <a:ext uri="{FF2B5EF4-FFF2-40B4-BE49-F238E27FC236}">
                <a16:creationId xmlns:a16="http://schemas.microsoft.com/office/drawing/2014/main" id="{30288EA7-7DC2-799D-2821-B3C09299E080}"/>
              </a:ext>
            </a:extLst>
          </p:cNvPr>
          <p:cNvPicPr preferRelativeResize="0"/>
          <p:nvPr/>
        </p:nvPicPr>
        <p:blipFill>
          <a:blip r:embed="rId3">
            <a:alphaModFix/>
          </a:blip>
          <a:stretch>
            <a:fillRect/>
          </a:stretch>
        </p:blipFill>
        <p:spPr>
          <a:xfrm>
            <a:off x="10324661" y="3928168"/>
            <a:ext cx="664800" cy="664820"/>
          </a:xfrm>
          <a:prstGeom prst="rect">
            <a:avLst/>
          </a:prstGeom>
          <a:noFill/>
          <a:ln>
            <a:noFill/>
          </a:ln>
        </p:spPr>
      </p:pic>
      <p:cxnSp>
        <p:nvCxnSpPr>
          <p:cNvPr id="10" name="Google Shape;174;p24">
            <a:extLst>
              <a:ext uri="{FF2B5EF4-FFF2-40B4-BE49-F238E27FC236}">
                <a16:creationId xmlns:a16="http://schemas.microsoft.com/office/drawing/2014/main" id="{277FF479-ABFD-D7B6-DA64-076A587D6170}"/>
              </a:ext>
            </a:extLst>
          </p:cNvPr>
          <p:cNvCxnSpPr>
            <a:cxnSpLocks/>
          </p:cNvCxnSpPr>
          <p:nvPr/>
        </p:nvCxnSpPr>
        <p:spPr>
          <a:xfrm>
            <a:off x="10652945" y="4564546"/>
            <a:ext cx="0" cy="657692"/>
          </a:xfrm>
          <a:prstGeom prst="straightConnector1">
            <a:avLst/>
          </a:prstGeom>
          <a:noFill/>
          <a:ln w="9525" cap="flat" cmpd="sng">
            <a:solidFill>
              <a:schemeClr val="dk2"/>
            </a:solidFill>
            <a:prstDash val="solid"/>
            <a:round/>
            <a:headEnd type="none" w="med" len="med"/>
            <a:tailEnd type="arrow" w="med" len="med"/>
          </a:ln>
        </p:spPr>
      </p:cxnSp>
      <p:sp>
        <p:nvSpPr>
          <p:cNvPr id="11" name="Google Shape;173;p24">
            <a:extLst>
              <a:ext uri="{FF2B5EF4-FFF2-40B4-BE49-F238E27FC236}">
                <a16:creationId xmlns:a16="http://schemas.microsoft.com/office/drawing/2014/main" id="{7BC3838A-CFD4-294A-9C2C-8A3FD33B8055}"/>
              </a:ext>
            </a:extLst>
          </p:cNvPr>
          <p:cNvSpPr txBox="1"/>
          <p:nvPr/>
        </p:nvSpPr>
        <p:spPr>
          <a:xfrm>
            <a:off x="9260645" y="5597021"/>
            <a:ext cx="27846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dirty="0">
                <a:solidFill>
                  <a:schemeClr val="tx2"/>
                </a:solidFill>
                <a:latin typeface="Montserrat"/>
                <a:ea typeface="Montserrat"/>
                <a:cs typeface="Montserrat"/>
                <a:sym typeface="Montserrat"/>
              </a:rPr>
              <a:t>Added “Unknown” to blank columns</a:t>
            </a:r>
          </a:p>
        </p:txBody>
      </p:sp>
      <p:sp>
        <p:nvSpPr>
          <p:cNvPr id="13" name="Rectangle 12">
            <a:extLst>
              <a:ext uri="{FF2B5EF4-FFF2-40B4-BE49-F238E27FC236}">
                <a16:creationId xmlns:a16="http://schemas.microsoft.com/office/drawing/2014/main" id="{30D0F5CE-33FB-C3A5-FF4F-AA31C51774EF}"/>
              </a:ext>
            </a:extLst>
          </p:cNvPr>
          <p:cNvSpPr/>
          <p:nvPr/>
        </p:nvSpPr>
        <p:spPr>
          <a:xfrm>
            <a:off x="2001257" y="1631418"/>
            <a:ext cx="2934059" cy="1036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Before (</a:t>
            </a:r>
            <a:r>
              <a:rPr lang="en-US" dirty="0" err="1"/>
              <a:t>highway_data</a:t>
            </a:r>
            <a:r>
              <a:rPr lang="en-US" dirty="0"/>
              <a:t>)</a:t>
            </a:r>
          </a:p>
          <a:p>
            <a:pPr marL="285750" indent="-285750">
              <a:buFont typeface="Arial" panose="020B0604020202020204" pitchFamily="34" charset="0"/>
              <a:buChar char="•"/>
            </a:pPr>
            <a:r>
              <a:rPr lang="en-US" dirty="0"/>
              <a:t>Existing Columns</a:t>
            </a:r>
          </a:p>
          <a:p>
            <a:pPr marL="285750" indent="-285750">
              <a:buFont typeface="Arial" panose="020B0604020202020204" pitchFamily="34" charset="0"/>
              <a:buChar char="•"/>
            </a:pPr>
            <a:endParaRPr lang="en-US" dirty="0"/>
          </a:p>
        </p:txBody>
      </p:sp>
      <p:sp>
        <p:nvSpPr>
          <p:cNvPr id="14" name="Rectangle 13">
            <a:extLst>
              <a:ext uri="{FF2B5EF4-FFF2-40B4-BE49-F238E27FC236}">
                <a16:creationId xmlns:a16="http://schemas.microsoft.com/office/drawing/2014/main" id="{92DE7F26-31CB-FE31-E16D-C31AC9E2CB4B}"/>
              </a:ext>
            </a:extLst>
          </p:cNvPr>
          <p:cNvSpPr/>
          <p:nvPr/>
        </p:nvSpPr>
        <p:spPr>
          <a:xfrm>
            <a:off x="9081077" y="1623606"/>
            <a:ext cx="2487168" cy="1036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After (</a:t>
            </a:r>
            <a:r>
              <a:rPr lang="en-US" dirty="0" err="1"/>
              <a:t>highway_data</a:t>
            </a:r>
            <a:r>
              <a:rPr lang="en-US" dirty="0"/>
              <a:t>)</a:t>
            </a:r>
          </a:p>
          <a:p>
            <a:pPr marL="285750" indent="-285750">
              <a:buFont typeface="Arial" panose="020B0604020202020204" pitchFamily="34" charset="0"/>
              <a:buChar char="•"/>
            </a:pPr>
            <a:r>
              <a:rPr lang="en-US" dirty="0"/>
              <a:t>Selected Columns</a:t>
            </a:r>
          </a:p>
          <a:p>
            <a:pPr marL="285750" indent="-285750">
              <a:buFont typeface="Arial" panose="020B0604020202020204" pitchFamily="34" charset="0"/>
              <a:buChar char="•"/>
            </a:pPr>
            <a:endParaRPr lang="en-US" dirty="0"/>
          </a:p>
        </p:txBody>
      </p:sp>
      <p:cxnSp>
        <p:nvCxnSpPr>
          <p:cNvPr id="16" name="Straight Arrow Connector 15">
            <a:extLst>
              <a:ext uri="{FF2B5EF4-FFF2-40B4-BE49-F238E27FC236}">
                <a16:creationId xmlns:a16="http://schemas.microsoft.com/office/drawing/2014/main" id="{B18B051E-CFAD-1D73-6882-4646334B1459}"/>
              </a:ext>
            </a:extLst>
          </p:cNvPr>
          <p:cNvCxnSpPr>
            <a:cxnSpLocks/>
            <a:stCxn id="13" idx="3"/>
            <a:endCxn id="14" idx="1"/>
          </p:cNvCxnSpPr>
          <p:nvPr/>
        </p:nvCxnSpPr>
        <p:spPr>
          <a:xfrm flipV="1">
            <a:off x="4935316" y="2142031"/>
            <a:ext cx="4145761" cy="78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8E6422-13D3-1986-346F-C02AB57A3C85}"/>
              </a:ext>
            </a:extLst>
          </p:cNvPr>
          <p:cNvCxnSpPr/>
          <p:nvPr/>
        </p:nvCxnSpPr>
        <p:spPr>
          <a:xfrm>
            <a:off x="0" y="2734056"/>
            <a:ext cx="12192000"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4202C699-DFF4-ACB6-CD34-DBB62CBB3A7C}"/>
              </a:ext>
            </a:extLst>
          </p:cNvPr>
          <p:cNvCxnSpPr>
            <a:cxnSpLocks/>
          </p:cNvCxnSpPr>
          <p:nvPr/>
        </p:nvCxnSpPr>
        <p:spPr>
          <a:xfrm>
            <a:off x="6096000" y="2734056"/>
            <a:ext cx="0" cy="400011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E3737F1C-BF41-DA1A-E1D1-3114070E4E8A}"/>
              </a:ext>
            </a:extLst>
          </p:cNvPr>
          <p:cNvCxnSpPr>
            <a:cxnSpLocks/>
          </p:cNvCxnSpPr>
          <p:nvPr/>
        </p:nvCxnSpPr>
        <p:spPr>
          <a:xfrm>
            <a:off x="9337455" y="2734055"/>
            <a:ext cx="0" cy="4000119"/>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68488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3EC5-AA00-9500-4E43-27EFE022AC2A}"/>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008D88F-557F-BEA3-0515-B41DFC542319}"/>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30112" r="30112"/>
          <a:stretch/>
        </p:blipFill>
        <p:spPr/>
      </p:pic>
      <p:sp>
        <p:nvSpPr>
          <p:cNvPr id="7" name="Title 1">
            <a:extLst>
              <a:ext uri="{FF2B5EF4-FFF2-40B4-BE49-F238E27FC236}">
                <a16:creationId xmlns:a16="http://schemas.microsoft.com/office/drawing/2014/main" id="{AA5F2B17-A221-C07E-DFD6-9D3B5EE25C36}"/>
              </a:ext>
            </a:extLst>
          </p:cNvPr>
          <p:cNvSpPr>
            <a:spLocks noGrp="1"/>
          </p:cNvSpPr>
          <p:nvPr>
            <p:ph type="ctrTitle"/>
          </p:nvPr>
        </p:nvSpPr>
        <p:spPr>
          <a:xfrm>
            <a:off x="545592" y="1965024"/>
            <a:ext cx="6400800" cy="2560320"/>
          </a:xfrm>
        </p:spPr>
        <p:txBody>
          <a:bodyPr/>
          <a:lstStyle/>
          <a:p>
            <a:r>
              <a:rPr lang="en-US" dirty="0"/>
              <a:t>Model Review, Comparison &amp; Interpretation</a:t>
            </a:r>
          </a:p>
        </p:txBody>
      </p:sp>
      <p:sp>
        <p:nvSpPr>
          <p:cNvPr id="2" name="TextBox 1">
            <a:extLst>
              <a:ext uri="{FF2B5EF4-FFF2-40B4-BE49-F238E27FC236}">
                <a16:creationId xmlns:a16="http://schemas.microsoft.com/office/drawing/2014/main" id="{16C6EB8B-CE9A-D105-A80C-C73CFD551839}"/>
              </a:ext>
            </a:extLst>
          </p:cNvPr>
          <p:cNvSpPr txBox="1"/>
          <p:nvPr/>
        </p:nvSpPr>
        <p:spPr>
          <a:xfrm>
            <a:off x="6743703" y="6858000"/>
            <a:ext cx="5448297" cy="230832"/>
          </a:xfrm>
          <a:prstGeom prst="rect">
            <a:avLst/>
          </a:prstGeom>
          <a:noFill/>
        </p:spPr>
        <p:txBody>
          <a:bodyPr wrap="square" rtlCol="0">
            <a:spAutoFit/>
          </a:bodyPr>
          <a:lstStyle/>
          <a:p>
            <a:r>
              <a:rPr lang="en-US" sz="900">
                <a:hlinkClick r:id="rId3" tooltip="https://www.digitalocean.com/community/tutorials/an-introduction-to-machine-learning"/>
              </a:rPr>
              <a:t>This Photo</a:t>
            </a:r>
            <a:r>
              <a:rPr lang="en-US" sz="900"/>
              <a:t> by Unknown Author is licensed under </a:t>
            </a:r>
            <a:r>
              <a:rPr lang="en-US" sz="900">
                <a:hlinkClick r:id="rId4" tooltip="https://creativecommons.org/licenses/by-nc-sa/3.0/"/>
              </a:rPr>
              <a:t>CC BY-SA-NC</a:t>
            </a:r>
            <a:endParaRPr lang="en-US" sz="900"/>
          </a:p>
        </p:txBody>
      </p:sp>
    </p:spTree>
    <p:extLst>
      <p:ext uri="{BB962C8B-B14F-4D97-AF65-F5344CB8AC3E}">
        <p14:creationId xmlns:p14="http://schemas.microsoft.com/office/powerpoint/2010/main" val="62926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4971A-A9FF-A9EF-4903-D52483EE6CC0}"/>
              </a:ext>
            </a:extLst>
          </p:cNvPr>
          <p:cNvSpPr>
            <a:spLocks noGrp="1"/>
          </p:cNvSpPr>
          <p:nvPr>
            <p:ph type="title"/>
          </p:nvPr>
        </p:nvSpPr>
        <p:spPr/>
        <p:txBody>
          <a:bodyPr/>
          <a:lstStyle/>
          <a:p>
            <a:r>
              <a:rPr lang="en-US" dirty="0"/>
              <a:t>Model Review</a:t>
            </a:r>
          </a:p>
        </p:txBody>
      </p:sp>
      <p:graphicFrame>
        <p:nvGraphicFramePr>
          <p:cNvPr id="4" name="Content Placeholder 3">
            <a:extLst>
              <a:ext uri="{FF2B5EF4-FFF2-40B4-BE49-F238E27FC236}">
                <a16:creationId xmlns:a16="http://schemas.microsoft.com/office/drawing/2014/main" id="{E4BE48AA-703A-F586-F85D-9E4429103B88}"/>
              </a:ext>
            </a:extLst>
          </p:cNvPr>
          <p:cNvGraphicFramePr>
            <a:graphicFrameLocks noGrp="1"/>
          </p:cNvGraphicFramePr>
          <p:nvPr>
            <p:ph idx="1"/>
            <p:extLst>
              <p:ext uri="{D42A27DB-BD31-4B8C-83A1-F6EECF244321}">
                <p14:modId xmlns:p14="http://schemas.microsoft.com/office/powerpoint/2010/main" val="3051641650"/>
              </p:ext>
            </p:extLst>
          </p:nvPr>
        </p:nvGraphicFramePr>
        <p:xfrm>
          <a:off x="182881" y="1792224"/>
          <a:ext cx="6839712" cy="4701540"/>
        </p:xfrm>
        <a:graphic>
          <a:graphicData uri="http://schemas.openxmlformats.org/drawingml/2006/table">
            <a:tbl>
              <a:tblPr firstRow="1" bandRow="1">
                <a:tableStyleId>{C4B1156A-380E-4F78-BDF5-A606A8083BF9}</a:tableStyleId>
              </a:tblPr>
              <a:tblGrid>
                <a:gridCol w="894592">
                  <a:extLst>
                    <a:ext uri="{9D8B030D-6E8A-4147-A177-3AD203B41FA5}">
                      <a16:colId xmlns:a16="http://schemas.microsoft.com/office/drawing/2014/main" val="89218687"/>
                    </a:ext>
                  </a:extLst>
                </a:gridCol>
                <a:gridCol w="2607559">
                  <a:extLst>
                    <a:ext uri="{9D8B030D-6E8A-4147-A177-3AD203B41FA5}">
                      <a16:colId xmlns:a16="http://schemas.microsoft.com/office/drawing/2014/main" val="1461135825"/>
                    </a:ext>
                  </a:extLst>
                </a:gridCol>
                <a:gridCol w="1197864">
                  <a:extLst>
                    <a:ext uri="{9D8B030D-6E8A-4147-A177-3AD203B41FA5}">
                      <a16:colId xmlns:a16="http://schemas.microsoft.com/office/drawing/2014/main" val="659471571"/>
                    </a:ext>
                  </a:extLst>
                </a:gridCol>
                <a:gridCol w="2139697">
                  <a:extLst>
                    <a:ext uri="{9D8B030D-6E8A-4147-A177-3AD203B41FA5}">
                      <a16:colId xmlns:a16="http://schemas.microsoft.com/office/drawing/2014/main" val="1044949985"/>
                    </a:ext>
                  </a:extLst>
                </a:gridCol>
              </a:tblGrid>
              <a:tr h="702564">
                <a:tc>
                  <a:txBody>
                    <a:bodyPr/>
                    <a:lstStyle/>
                    <a:p>
                      <a:r>
                        <a:rPr lang="en-US" dirty="0"/>
                        <a:t>Sr No</a:t>
                      </a:r>
                    </a:p>
                  </a:txBody>
                  <a:tcPr/>
                </a:tc>
                <a:tc>
                  <a:txBody>
                    <a:bodyPr/>
                    <a:lstStyle/>
                    <a:p>
                      <a:r>
                        <a:rPr lang="en-US" dirty="0"/>
                        <a:t>Model Name</a:t>
                      </a:r>
                    </a:p>
                  </a:txBody>
                  <a:tcPr/>
                </a:tc>
                <a:tc>
                  <a:txBody>
                    <a:bodyPr/>
                    <a:lstStyle/>
                    <a:p>
                      <a:r>
                        <a:rPr lang="en-US" dirty="0"/>
                        <a:t>Accuracy</a:t>
                      </a:r>
                    </a:p>
                  </a:txBody>
                  <a:tcPr/>
                </a:tc>
                <a:tc>
                  <a:txBody>
                    <a:bodyPr/>
                    <a:lstStyle/>
                    <a:p>
                      <a:r>
                        <a:rPr lang="en-US" dirty="0"/>
                        <a:t>F1 score</a:t>
                      </a:r>
                    </a:p>
                  </a:txBody>
                  <a:tcPr/>
                </a:tc>
                <a:extLst>
                  <a:ext uri="{0D108BD9-81ED-4DB2-BD59-A6C34878D82A}">
                    <a16:rowId xmlns:a16="http://schemas.microsoft.com/office/drawing/2014/main" val="4054216289"/>
                  </a:ext>
                </a:extLst>
              </a:tr>
              <a:tr h="702564">
                <a:tc>
                  <a:txBody>
                    <a:bodyPr/>
                    <a:lstStyle/>
                    <a:p>
                      <a:r>
                        <a:rPr lang="en-US" dirty="0"/>
                        <a:t>1.</a:t>
                      </a:r>
                    </a:p>
                  </a:txBody>
                  <a:tcPr/>
                </a:tc>
                <a:tc>
                  <a:txBody>
                    <a:bodyPr/>
                    <a:lstStyle/>
                    <a:p>
                      <a:r>
                        <a:rPr lang="en-US" dirty="0"/>
                        <a:t>Logistic Regression</a:t>
                      </a:r>
                    </a:p>
                  </a:txBody>
                  <a:tcPr/>
                </a:tc>
                <a:tc>
                  <a:txBody>
                    <a:bodyPr/>
                    <a:lstStyle/>
                    <a:p>
                      <a:r>
                        <a:rPr lang="en-US" dirty="0"/>
                        <a:t>55.51%</a:t>
                      </a:r>
                    </a:p>
                  </a:txBody>
                  <a:tcPr/>
                </a:tc>
                <a:tc>
                  <a:txBody>
                    <a:bodyPr/>
                    <a:lstStyle/>
                    <a:p>
                      <a:r>
                        <a:rPr lang="en-US" dirty="0"/>
                        <a:t>64.43%</a:t>
                      </a:r>
                    </a:p>
                  </a:txBody>
                  <a:tcPr/>
                </a:tc>
                <a:extLst>
                  <a:ext uri="{0D108BD9-81ED-4DB2-BD59-A6C34878D82A}">
                    <a16:rowId xmlns:a16="http://schemas.microsoft.com/office/drawing/2014/main" val="2153987253"/>
                  </a:ext>
                </a:extLst>
              </a:tr>
              <a:tr h="702564">
                <a:tc>
                  <a:txBody>
                    <a:bodyPr/>
                    <a:lstStyle/>
                    <a:p>
                      <a:r>
                        <a:rPr lang="en-US" dirty="0"/>
                        <a:t>2.</a:t>
                      </a:r>
                    </a:p>
                  </a:txBody>
                  <a:tcPr/>
                </a:tc>
                <a:tc>
                  <a:txBody>
                    <a:bodyPr/>
                    <a:lstStyle/>
                    <a:p>
                      <a:r>
                        <a:rPr lang="en-US" dirty="0"/>
                        <a:t>Random Forest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76.06%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80.21%</a:t>
                      </a:r>
                    </a:p>
                    <a:p>
                      <a:endParaRPr lang="en-US" dirty="0"/>
                    </a:p>
                  </a:txBody>
                  <a:tcPr/>
                </a:tc>
                <a:extLst>
                  <a:ext uri="{0D108BD9-81ED-4DB2-BD59-A6C34878D82A}">
                    <a16:rowId xmlns:a16="http://schemas.microsoft.com/office/drawing/2014/main" val="3440178967"/>
                  </a:ext>
                </a:extLst>
              </a:tr>
              <a:tr h="702564">
                <a:tc>
                  <a:txBody>
                    <a:bodyPr/>
                    <a:lstStyle/>
                    <a:p>
                      <a:r>
                        <a:rPr lang="en-US" dirty="0"/>
                        <a:t>3.</a:t>
                      </a:r>
                    </a:p>
                  </a:txBody>
                  <a:tcPr/>
                </a:tc>
                <a:tc>
                  <a:txBody>
                    <a:bodyPr/>
                    <a:lstStyle/>
                    <a:p>
                      <a:r>
                        <a:rPr lang="en-US" dirty="0"/>
                        <a:t>Gradient Boosting</a:t>
                      </a:r>
                    </a:p>
                  </a:txBody>
                  <a:tcPr/>
                </a:tc>
                <a:tc>
                  <a:txBody>
                    <a:bodyPr/>
                    <a:lstStyle/>
                    <a:p>
                      <a:r>
                        <a:rPr lang="en-US" dirty="0"/>
                        <a:t>66.65%</a:t>
                      </a:r>
                    </a:p>
                  </a:txBody>
                  <a:tcPr/>
                </a:tc>
                <a:tc>
                  <a:txBody>
                    <a:bodyPr/>
                    <a:lstStyle/>
                    <a:p>
                      <a:r>
                        <a:rPr lang="en-US" dirty="0"/>
                        <a:t>72.54%</a:t>
                      </a:r>
                    </a:p>
                    <a:p>
                      <a:endParaRPr lang="en-US" dirty="0"/>
                    </a:p>
                  </a:txBody>
                  <a:tcPr/>
                </a:tc>
                <a:extLst>
                  <a:ext uri="{0D108BD9-81ED-4DB2-BD59-A6C34878D82A}">
                    <a16:rowId xmlns:a16="http://schemas.microsoft.com/office/drawing/2014/main" val="2426726830"/>
                  </a:ext>
                </a:extLst>
              </a:tr>
              <a:tr h="702564">
                <a:tc>
                  <a:txBody>
                    <a:bodyPr/>
                    <a:lstStyle/>
                    <a:p>
                      <a:r>
                        <a:rPr lang="en-US" dirty="0"/>
                        <a:t>4.</a:t>
                      </a:r>
                    </a:p>
                  </a:txBody>
                  <a:tcPr/>
                </a:tc>
                <a:tc>
                  <a:txBody>
                    <a:bodyPr/>
                    <a:lstStyle/>
                    <a:p>
                      <a:r>
                        <a:rPr lang="en-US" dirty="0"/>
                        <a:t>GBM Tuned_1 (cross-validation = 20)</a:t>
                      </a:r>
                    </a:p>
                  </a:txBody>
                  <a:tcPr/>
                </a:tc>
                <a:tc>
                  <a:txBody>
                    <a:bodyPr/>
                    <a:lstStyle/>
                    <a:p>
                      <a:r>
                        <a:rPr lang="en-US" dirty="0"/>
                        <a:t>73.20%</a:t>
                      </a:r>
                    </a:p>
                  </a:txBody>
                  <a:tcPr/>
                </a:tc>
                <a:tc>
                  <a:txBody>
                    <a:bodyPr/>
                    <a:lstStyle/>
                    <a:p>
                      <a:r>
                        <a:rPr lang="en-US" dirty="0"/>
                        <a:t>75.66%</a:t>
                      </a:r>
                    </a:p>
                  </a:txBody>
                  <a:tcPr/>
                </a:tc>
                <a:extLst>
                  <a:ext uri="{0D108BD9-81ED-4DB2-BD59-A6C34878D82A}">
                    <a16:rowId xmlns:a16="http://schemas.microsoft.com/office/drawing/2014/main" val="3025780602"/>
                  </a:ext>
                </a:extLst>
              </a:tr>
              <a:tr h="702564">
                <a:tc>
                  <a:txBody>
                    <a:bodyPr/>
                    <a:lstStyle/>
                    <a:p>
                      <a:r>
                        <a:rPr lang="en-US"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GBM Tuned_2 (cross-validation = 20, repeated 5 times)</a:t>
                      </a:r>
                    </a:p>
                    <a:p>
                      <a:endParaRPr lang="en-US" dirty="0"/>
                    </a:p>
                  </a:txBody>
                  <a:tcPr/>
                </a:tc>
                <a:tc>
                  <a:txBody>
                    <a:bodyPr/>
                    <a:lstStyle/>
                    <a:p>
                      <a:r>
                        <a:rPr lang="en-US" dirty="0"/>
                        <a:t>71.80%</a:t>
                      </a:r>
                    </a:p>
                  </a:txBody>
                  <a:tcPr/>
                </a:tc>
                <a:tc>
                  <a:txBody>
                    <a:bodyPr/>
                    <a:lstStyle/>
                    <a:p>
                      <a:r>
                        <a:rPr lang="en-US" dirty="0"/>
                        <a:t>74.15%</a:t>
                      </a:r>
                    </a:p>
                  </a:txBody>
                  <a:tcPr/>
                </a:tc>
                <a:extLst>
                  <a:ext uri="{0D108BD9-81ED-4DB2-BD59-A6C34878D82A}">
                    <a16:rowId xmlns:a16="http://schemas.microsoft.com/office/drawing/2014/main" val="462387437"/>
                  </a:ext>
                </a:extLst>
              </a:tr>
            </a:tbl>
          </a:graphicData>
        </a:graphic>
      </p:graphicFrame>
      <p:cxnSp>
        <p:nvCxnSpPr>
          <p:cNvPr id="7" name="Straight Connector 6">
            <a:extLst>
              <a:ext uri="{FF2B5EF4-FFF2-40B4-BE49-F238E27FC236}">
                <a16:creationId xmlns:a16="http://schemas.microsoft.com/office/drawing/2014/main" id="{C634056B-2015-1BB0-0D43-6E3238BA4B5C}"/>
              </a:ext>
            </a:extLst>
          </p:cNvPr>
          <p:cNvCxnSpPr>
            <a:cxnSpLocks/>
          </p:cNvCxnSpPr>
          <p:nvPr/>
        </p:nvCxnSpPr>
        <p:spPr>
          <a:xfrm>
            <a:off x="100584" y="3081528"/>
            <a:ext cx="692200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474968F-06D8-5063-B22F-030F0208C3E9}"/>
              </a:ext>
            </a:extLst>
          </p:cNvPr>
          <p:cNvCxnSpPr>
            <a:cxnSpLocks/>
          </p:cNvCxnSpPr>
          <p:nvPr/>
        </p:nvCxnSpPr>
        <p:spPr>
          <a:xfrm>
            <a:off x="100584" y="3747516"/>
            <a:ext cx="692200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7300559-64D5-6B97-0D54-EAAAD07B2653}"/>
              </a:ext>
            </a:extLst>
          </p:cNvPr>
          <p:cNvCxnSpPr>
            <a:cxnSpLocks/>
          </p:cNvCxnSpPr>
          <p:nvPr/>
        </p:nvCxnSpPr>
        <p:spPr>
          <a:xfrm>
            <a:off x="100584" y="3110484"/>
            <a:ext cx="0" cy="63703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1E411C7-82E1-3CA3-5FCC-8DFF925169B2}"/>
              </a:ext>
            </a:extLst>
          </p:cNvPr>
          <p:cNvCxnSpPr>
            <a:cxnSpLocks/>
          </p:cNvCxnSpPr>
          <p:nvPr/>
        </p:nvCxnSpPr>
        <p:spPr>
          <a:xfrm>
            <a:off x="7022593" y="3081528"/>
            <a:ext cx="0" cy="637032"/>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950647E5-47C0-05B0-DC68-7A36FD9D1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4027" y="1790700"/>
            <a:ext cx="3800412" cy="4701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33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9A7E-10FC-D7E7-128D-EE90CE82CD18}"/>
              </a:ext>
            </a:extLst>
          </p:cNvPr>
          <p:cNvSpPr>
            <a:spLocks noGrp="1"/>
          </p:cNvSpPr>
          <p:nvPr>
            <p:ph type="title"/>
          </p:nvPr>
        </p:nvSpPr>
        <p:spPr/>
        <p:txBody>
          <a:bodyPr/>
          <a:lstStyle/>
          <a:p>
            <a:r>
              <a:rPr lang="en-US" dirty="0"/>
              <a:t>Selected Model and Feature of Importance</a:t>
            </a:r>
          </a:p>
        </p:txBody>
      </p:sp>
      <p:pic>
        <p:nvPicPr>
          <p:cNvPr id="5" name="Picture 4">
            <a:extLst>
              <a:ext uri="{FF2B5EF4-FFF2-40B4-BE49-F238E27FC236}">
                <a16:creationId xmlns:a16="http://schemas.microsoft.com/office/drawing/2014/main" id="{1528162E-26C9-3272-459C-81B12AB9C148}"/>
              </a:ext>
            </a:extLst>
          </p:cNvPr>
          <p:cNvPicPr>
            <a:picLocks noChangeAspect="1"/>
          </p:cNvPicPr>
          <p:nvPr/>
        </p:nvPicPr>
        <p:blipFill rotWithShape="1">
          <a:blip r:embed="rId2"/>
          <a:srcRect l="4978" t="8103" r="3091" b="3338"/>
          <a:stretch/>
        </p:blipFill>
        <p:spPr>
          <a:xfrm>
            <a:off x="7254239" y="2137525"/>
            <a:ext cx="4791457" cy="4294695"/>
          </a:xfrm>
          <a:prstGeom prst="rect">
            <a:avLst/>
          </a:prstGeom>
        </p:spPr>
      </p:pic>
      <p:graphicFrame>
        <p:nvGraphicFramePr>
          <p:cNvPr id="6" name="Table 5">
            <a:extLst>
              <a:ext uri="{FF2B5EF4-FFF2-40B4-BE49-F238E27FC236}">
                <a16:creationId xmlns:a16="http://schemas.microsoft.com/office/drawing/2014/main" id="{52684366-4DD6-3894-8C5A-A7CAD7B58083}"/>
              </a:ext>
            </a:extLst>
          </p:cNvPr>
          <p:cNvGraphicFramePr>
            <a:graphicFrameLocks noGrp="1"/>
          </p:cNvGraphicFramePr>
          <p:nvPr>
            <p:extLst>
              <p:ext uri="{D42A27DB-BD31-4B8C-83A1-F6EECF244321}">
                <p14:modId xmlns:p14="http://schemas.microsoft.com/office/powerpoint/2010/main" val="143522668"/>
              </p:ext>
            </p:extLst>
          </p:nvPr>
        </p:nvGraphicFramePr>
        <p:xfrm>
          <a:off x="146304" y="1652354"/>
          <a:ext cx="11899395" cy="370840"/>
        </p:xfrm>
        <a:graphic>
          <a:graphicData uri="http://schemas.openxmlformats.org/drawingml/2006/table">
            <a:tbl>
              <a:tblPr firstRow="1" bandRow="1">
                <a:tableStyleId>{08FB837D-C827-4EFA-A057-4D05807E0F7C}</a:tableStyleId>
              </a:tblPr>
              <a:tblGrid>
                <a:gridCol w="2379879">
                  <a:extLst>
                    <a:ext uri="{9D8B030D-6E8A-4147-A177-3AD203B41FA5}">
                      <a16:colId xmlns:a16="http://schemas.microsoft.com/office/drawing/2014/main" val="1075256663"/>
                    </a:ext>
                  </a:extLst>
                </a:gridCol>
                <a:gridCol w="2379879">
                  <a:extLst>
                    <a:ext uri="{9D8B030D-6E8A-4147-A177-3AD203B41FA5}">
                      <a16:colId xmlns:a16="http://schemas.microsoft.com/office/drawing/2014/main" val="1017052258"/>
                    </a:ext>
                  </a:extLst>
                </a:gridCol>
                <a:gridCol w="2379879">
                  <a:extLst>
                    <a:ext uri="{9D8B030D-6E8A-4147-A177-3AD203B41FA5}">
                      <a16:colId xmlns:a16="http://schemas.microsoft.com/office/drawing/2014/main" val="1072779955"/>
                    </a:ext>
                  </a:extLst>
                </a:gridCol>
                <a:gridCol w="2379879">
                  <a:extLst>
                    <a:ext uri="{9D8B030D-6E8A-4147-A177-3AD203B41FA5}">
                      <a16:colId xmlns:a16="http://schemas.microsoft.com/office/drawing/2014/main" val="3810316976"/>
                    </a:ext>
                  </a:extLst>
                </a:gridCol>
                <a:gridCol w="2379879">
                  <a:extLst>
                    <a:ext uri="{9D8B030D-6E8A-4147-A177-3AD203B41FA5}">
                      <a16:colId xmlns:a16="http://schemas.microsoft.com/office/drawing/2014/main" val="3208221061"/>
                    </a:ext>
                  </a:extLst>
                </a:gridCol>
              </a:tblGrid>
              <a:tr h="370840">
                <a:tc>
                  <a:txBody>
                    <a:bodyPr/>
                    <a:lstStyle/>
                    <a:p>
                      <a:r>
                        <a:rPr lang="en-US" dirty="0"/>
                        <a:t>Selected Model</a:t>
                      </a:r>
                    </a:p>
                  </a:txBody>
                  <a:tcPr/>
                </a:tc>
                <a:tc>
                  <a:txBody>
                    <a:bodyPr/>
                    <a:lstStyle/>
                    <a:p>
                      <a:r>
                        <a:rPr lang="en-US" dirty="0"/>
                        <a:t>Random Forest (</a:t>
                      </a:r>
                      <a:r>
                        <a:rPr lang="en-US" dirty="0" err="1"/>
                        <a:t>rF</a:t>
                      </a:r>
                      <a:r>
                        <a:rPr lang="en-US" dirty="0"/>
                        <a:t>)</a:t>
                      </a:r>
                    </a:p>
                  </a:txBody>
                  <a:tcPr/>
                </a:tc>
                <a:tc>
                  <a:txBody>
                    <a:bodyPr/>
                    <a:lstStyle/>
                    <a:p>
                      <a:r>
                        <a:rPr lang="en-US" dirty="0"/>
                        <a:t>Accuracy = 76.06%</a:t>
                      </a:r>
                    </a:p>
                  </a:txBody>
                  <a:tcPr/>
                </a:tc>
                <a:tc>
                  <a:txBody>
                    <a:bodyPr/>
                    <a:lstStyle/>
                    <a:p>
                      <a:r>
                        <a:rPr lang="en-US" dirty="0"/>
                        <a:t>F1 Score = 80.21%</a:t>
                      </a:r>
                    </a:p>
                  </a:txBody>
                  <a:tcPr/>
                </a:tc>
                <a:tc>
                  <a:txBody>
                    <a:bodyPr/>
                    <a:lstStyle/>
                    <a:p>
                      <a:r>
                        <a:rPr lang="en-US" dirty="0"/>
                        <a:t>80:20 Split</a:t>
                      </a:r>
                    </a:p>
                  </a:txBody>
                  <a:tcPr/>
                </a:tc>
                <a:extLst>
                  <a:ext uri="{0D108BD9-81ED-4DB2-BD59-A6C34878D82A}">
                    <a16:rowId xmlns:a16="http://schemas.microsoft.com/office/drawing/2014/main" val="4288367003"/>
                  </a:ext>
                </a:extLst>
              </a:tr>
            </a:tbl>
          </a:graphicData>
        </a:graphic>
      </p:graphicFrame>
      <p:sp>
        <p:nvSpPr>
          <p:cNvPr id="7" name="Rectangle 6">
            <a:extLst>
              <a:ext uri="{FF2B5EF4-FFF2-40B4-BE49-F238E27FC236}">
                <a16:creationId xmlns:a16="http://schemas.microsoft.com/office/drawing/2014/main" id="{A28FFC09-1BB6-8725-E6F5-5B5DE119BA9B}"/>
              </a:ext>
            </a:extLst>
          </p:cNvPr>
          <p:cNvSpPr/>
          <p:nvPr/>
        </p:nvSpPr>
        <p:spPr>
          <a:xfrm>
            <a:off x="146304" y="2305199"/>
            <a:ext cx="2935224" cy="39593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Amenities:</a:t>
            </a:r>
          </a:p>
          <a:p>
            <a:pPr marL="285750" indent="-285750">
              <a:buFont typeface="Arial" panose="020B0604020202020204" pitchFamily="34" charset="0"/>
              <a:buChar char="•"/>
            </a:pPr>
            <a:r>
              <a:rPr lang="en-US" dirty="0"/>
              <a:t>Coffee House</a:t>
            </a:r>
          </a:p>
          <a:p>
            <a:pPr marL="285750" indent="-285750">
              <a:buFont typeface="Arial" panose="020B0604020202020204" pitchFamily="34" charset="0"/>
              <a:buChar char="•"/>
            </a:pPr>
            <a:r>
              <a:rPr lang="en-US" dirty="0"/>
              <a:t>Bar</a:t>
            </a:r>
          </a:p>
          <a:p>
            <a:pPr marL="285750" indent="-285750">
              <a:buFont typeface="Arial" panose="020B0604020202020204" pitchFamily="34" charset="0"/>
              <a:buChar char="•"/>
            </a:pPr>
            <a:r>
              <a:rPr lang="en-US" dirty="0"/>
              <a:t>Carry Away</a:t>
            </a:r>
          </a:p>
          <a:p>
            <a:pPr marL="285750" indent="-285750">
              <a:buFont typeface="Arial" panose="020B0604020202020204" pitchFamily="34" charset="0"/>
              <a:buChar char="•"/>
            </a:pPr>
            <a:r>
              <a:rPr lang="en-US" dirty="0"/>
              <a:t>Restaurant &lt;20$</a:t>
            </a:r>
          </a:p>
          <a:p>
            <a:pPr marL="285750" indent="-285750">
              <a:buFont typeface="Arial" panose="020B0604020202020204" pitchFamily="34" charset="0"/>
              <a:buChar char="•"/>
            </a:pPr>
            <a:r>
              <a:rPr lang="en-US" dirty="0"/>
              <a:t>Restaurant $20-$50</a:t>
            </a:r>
          </a:p>
          <a:p>
            <a:endParaRPr lang="en-US" dirty="0"/>
          </a:p>
          <a:p>
            <a:r>
              <a:rPr lang="en-US" dirty="0"/>
              <a:t>Important Features:</a:t>
            </a:r>
          </a:p>
          <a:p>
            <a:pPr marL="285750" indent="-285750">
              <a:buFont typeface="Arial" panose="020B0604020202020204" pitchFamily="34" charset="0"/>
              <a:buChar char="•"/>
            </a:pPr>
            <a:r>
              <a:rPr lang="en-US" dirty="0"/>
              <a:t>Occupation</a:t>
            </a:r>
          </a:p>
          <a:p>
            <a:pPr marL="285750" indent="-285750">
              <a:buFont typeface="Arial" panose="020B0604020202020204" pitchFamily="34" charset="0"/>
              <a:buChar char="•"/>
            </a:pPr>
            <a:r>
              <a:rPr lang="en-US" dirty="0"/>
              <a:t>Coupon</a:t>
            </a:r>
          </a:p>
          <a:p>
            <a:pPr marL="285750" indent="-285750">
              <a:buFont typeface="Arial" panose="020B0604020202020204" pitchFamily="34" charset="0"/>
              <a:buChar char="•"/>
            </a:pPr>
            <a:r>
              <a:rPr lang="en-US" dirty="0"/>
              <a:t>Income</a:t>
            </a:r>
          </a:p>
          <a:p>
            <a:pPr marL="285750" indent="-285750">
              <a:buFont typeface="Arial" panose="020B0604020202020204" pitchFamily="34" charset="0"/>
              <a:buChar char="•"/>
            </a:pPr>
            <a:r>
              <a:rPr lang="en-US" dirty="0"/>
              <a:t>Education</a:t>
            </a:r>
          </a:p>
          <a:p>
            <a:pPr marL="285750" indent="-285750">
              <a:buFont typeface="Arial" panose="020B0604020202020204" pitchFamily="34" charset="0"/>
              <a:buChar char="•"/>
            </a:pPr>
            <a:r>
              <a:rPr lang="en-US" dirty="0"/>
              <a:t>Time of Day</a:t>
            </a:r>
          </a:p>
          <a:p>
            <a:endParaRPr lang="en-US" dirty="0"/>
          </a:p>
        </p:txBody>
      </p:sp>
      <p:sp>
        <p:nvSpPr>
          <p:cNvPr id="10" name="TextBox 9">
            <a:extLst>
              <a:ext uri="{FF2B5EF4-FFF2-40B4-BE49-F238E27FC236}">
                <a16:creationId xmlns:a16="http://schemas.microsoft.com/office/drawing/2014/main" id="{DB9BBC86-2EE9-5897-D9E4-A7E40A2866F2}"/>
              </a:ext>
            </a:extLst>
          </p:cNvPr>
          <p:cNvSpPr txBox="1"/>
          <p:nvPr/>
        </p:nvSpPr>
        <p:spPr>
          <a:xfrm>
            <a:off x="4169663" y="2496766"/>
            <a:ext cx="2642616" cy="3576215"/>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D8ED2C8E-148B-3D57-B64C-7F8E2D9204DC}"/>
              </a:ext>
            </a:extLst>
          </p:cNvPr>
          <p:cNvSpPr txBox="1"/>
          <p:nvPr/>
        </p:nvSpPr>
        <p:spPr>
          <a:xfrm>
            <a:off x="3465576" y="2305199"/>
            <a:ext cx="3410712" cy="3693319"/>
          </a:xfrm>
          <a:prstGeom prst="rect">
            <a:avLst/>
          </a:prstGeom>
          <a:noFill/>
        </p:spPr>
        <p:txBody>
          <a:bodyPr wrap="square" rtlCol="0">
            <a:spAutoFit/>
          </a:bodyPr>
          <a:lstStyle/>
          <a:p>
            <a:r>
              <a:rPr lang="en-US" dirty="0"/>
              <a:t>Top Predictors:</a:t>
            </a:r>
          </a:p>
          <a:p>
            <a:pPr marL="285750" indent="-285750">
              <a:buFont typeface="Arial" panose="020B0604020202020204" pitchFamily="34" charset="0"/>
              <a:buChar char="•"/>
            </a:pPr>
            <a:r>
              <a:rPr lang="en-US" dirty="0"/>
              <a:t>Occupation</a:t>
            </a:r>
          </a:p>
          <a:p>
            <a:pPr marL="285750" indent="-285750">
              <a:buFont typeface="Arial" panose="020B0604020202020204" pitchFamily="34" charset="0"/>
              <a:buChar char="•"/>
            </a:pPr>
            <a:r>
              <a:rPr lang="en-US" dirty="0"/>
              <a:t>Income</a:t>
            </a:r>
          </a:p>
          <a:p>
            <a:pPr marL="285750" indent="-285750">
              <a:buFont typeface="Arial" panose="020B0604020202020204" pitchFamily="34" charset="0"/>
              <a:buChar char="•"/>
            </a:pPr>
            <a:r>
              <a:rPr lang="en-US" dirty="0"/>
              <a:t>Education</a:t>
            </a:r>
          </a:p>
          <a:p>
            <a:endParaRPr lang="en-US" dirty="0"/>
          </a:p>
          <a:p>
            <a:r>
              <a:rPr lang="en-US" dirty="0"/>
              <a:t>Insights:</a:t>
            </a:r>
          </a:p>
          <a:p>
            <a:pPr marL="285750" indent="-285750">
              <a:buFont typeface="Arial" panose="020B0604020202020204" pitchFamily="34" charset="0"/>
              <a:buChar char="•"/>
            </a:pPr>
            <a:r>
              <a:rPr lang="en-US" dirty="0"/>
              <a:t>Economic and social status play a role in amenity preference</a:t>
            </a:r>
          </a:p>
          <a:p>
            <a:pPr marL="285750" indent="-285750">
              <a:buFont typeface="Arial" panose="020B0604020202020204" pitchFamily="34" charset="0"/>
              <a:buChar char="•"/>
            </a:pPr>
            <a:r>
              <a:rPr lang="en-US" dirty="0"/>
              <a:t>Preferences vary with the time of day, hinting at potential peak hours for specific amenities.</a:t>
            </a:r>
          </a:p>
        </p:txBody>
      </p:sp>
    </p:spTree>
    <p:extLst>
      <p:ext uri="{BB962C8B-B14F-4D97-AF65-F5344CB8AC3E}">
        <p14:creationId xmlns:p14="http://schemas.microsoft.com/office/powerpoint/2010/main" val="119737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3EC5-AA00-9500-4E43-27EFE022AC2A}"/>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008D88F-557F-BEA3-0515-B41DFC542319}"/>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0541" r="10541"/>
          <a:stretch/>
        </p:blipFill>
        <p:spPr/>
      </p:pic>
      <p:sp>
        <p:nvSpPr>
          <p:cNvPr id="7" name="Title 1">
            <a:extLst>
              <a:ext uri="{FF2B5EF4-FFF2-40B4-BE49-F238E27FC236}">
                <a16:creationId xmlns:a16="http://schemas.microsoft.com/office/drawing/2014/main" id="{AA5F2B17-A221-C07E-DFD6-9D3B5EE25C36}"/>
              </a:ext>
            </a:extLst>
          </p:cNvPr>
          <p:cNvSpPr>
            <a:spLocks noGrp="1"/>
          </p:cNvSpPr>
          <p:nvPr>
            <p:ph type="ctrTitle"/>
          </p:nvPr>
        </p:nvSpPr>
        <p:spPr>
          <a:xfrm>
            <a:off x="545592" y="1965024"/>
            <a:ext cx="6400800" cy="2560320"/>
          </a:xfrm>
        </p:spPr>
        <p:txBody>
          <a:bodyPr/>
          <a:lstStyle/>
          <a:p>
            <a:r>
              <a:rPr lang="en-US" dirty="0"/>
              <a:t>Implications &amp;</a:t>
            </a:r>
            <a:br>
              <a:rPr lang="en-US" dirty="0"/>
            </a:br>
            <a:r>
              <a:rPr lang="en-US" dirty="0"/>
              <a:t>Recommendations</a:t>
            </a:r>
          </a:p>
        </p:txBody>
      </p:sp>
      <p:sp>
        <p:nvSpPr>
          <p:cNvPr id="2" name="TextBox 1">
            <a:extLst>
              <a:ext uri="{FF2B5EF4-FFF2-40B4-BE49-F238E27FC236}">
                <a16:creationId xmlns:a16="http://schemas.microsoft.com/office/drawing/2014/main" id="{211FC41B-2CF4-2CB5-C663-02E12DA80FC4}"/>
              </a:ext>
            </a:extLst>
          </p:cNvPr>
          <p:cNvSpPr txBox="1"/>
          <p:nvPr/>
        </p:nvSpPr>
        <p:spPr>
          <a:xfrm>
            <a:off x="6743703" y="6858000"/>
            <a:ext cx="5448297" cy="230832"/>
          </a:xfrm>
          <a:prstGeom prst="rect">
            <a:avLst/>
          </a:prstGeom>
          <a:noFill/>
        </p:spPr>
        <p:txBody>
          <a:bodyPr wrap="square" rtlCol="0">
            <a:spAutoFit/>
          </a:bodyPr>
          <a:lstStyle/>
          <a:p>
            <a:r>
              <a:rPr lang="en-US" sz="900">
                <a:hlinkClick r:id="rId3" tooltip="https://kurucz.ca/expatrepat/professionals.php"/>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3246160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245;p38">
            <a:extLst>
              <a:ext uri="{FF2B5EF4-FFF2-40B4-BE49-F238E27FC236}">
                <a16:creationId xmlns:a16="http://schemas.microsoft.com/office/drawing/2014/main" id="{687D4393-FBCA-75AC-DE7D-4C88C9B97828}"/>
              </a:ext>
            </a:extLst>
          </p:cNvPr>
          <p:cNvGraphicFramePr/>
          <p:nvPr>
            <p:extLst>
              <p:ext uri="{D42A27DB-BD31-4B8C-83A1-F6EECF244321}">
                <p14:modId xmlns:p14="http://schemas.microsoft.com/office/powerpoint/2010/main" val="3277383803"/>
              </p:ext>
            </p:extLst>
          </p:nvPr>
        </p:nvGraphicFramePr>
        <p:xfrm>
          <a:off x="1493122" y="1550357"/>
          <a:ext cx="9004190" cy="5197914"/>
        </p:xfrm>
        <a:graphic>
          <a:graphicData uri="http://schemas.openxmlformats.org/drawingml/2006/table">
            <a:tbl>
              <a:tblPr firstRow="1" bandRow="1">
                <a:tableStyleId>{E8B1032C-EA38-4F05-BA0D-38AFFFC7BED3}</a:tableStyleId>
              </a:tblPr>
              <a:tblGrid>
                <a:gridCol w="2310895">
                  <a:extLst>
                    <a:ext uri="{9D8B030D-6E8A-4147-A177-3AD203B41FA5}">
                      <a16:colId xmlns:a16="http://schemas.microsoft.com/office/drawing/2014/main" val="20000"/>
                    </a:ext>
                  </a:extLst>
                </a:gridCol>
                <a:gridCol w="3138498">
                  <a:extLst>
                    <a:ext uri="{9D8B030D-6E8A-4147-A177-3AD203B41FA5}">
                      <a16:colId xmlns:a16="http://schemas.microsoft.com/office/drawing/2014/main" val="20001"/>
                    </a:ext>
                  </a:extLst>
                </a:gridCol>
                <a:gridCol w="3554797">
                  <a:extLst>
                    <a:ext uri="{9D8B030D-6E8A-4147-A177-3AD203B41FA5}">
                      <a16:colId xmlns:a16="http://schemas.microsoft.com/office/drawing/2014/main" val="20002"/>
                    </a:ext>
                  </a:extLst>
                </a:gridCol>
              </a:tblGrid>
              <a:tr h="419173">
                <a:tc>
                  <a:txBody>
                    <a:bodyPr/>
                    <a:lstStyle/>
                    <a:p>
                      <a:pPr marL="0" marR="0" lvl="0" indent="0" algn="l" rtl="0">
                        <a:spcBef>
                          <a:spcPts val="0"/>
                        </a:spcBef>
                        <a:spcAft>
                          <a:spcPts val="0"/>
                        </a:spcAft>
                        <a:buNone/>
                      </a:pPr>
                      <a:r>
                        <a:rPr lang="en" sz="1600" dirty="0"/>
                        <a:t>Important Variable</a:t>
                      </a:r>
                      <a:endParaRPr sz="1100" dirty="0"/>
                    </a:p>
                  </a:txBody>
                  <a:tcPr marL="68600" marR="68600" marT="34300" marB="34300"/>
                </a:tc>
                <a:tc>
                  <a:txBody>
                    <a:bodyPr/>
                    <a:lstStyle/>
                    <a:p>
                      <a:pPr marL="0" lvl="0" indent="0" algn="l" rtl="0">
                        <a:spcBef>
                          <a:spcPts val="0"/>
                        </a:spcBef>
                        <a:spcAft>
                          <a:spcPts val="0"/>
                        </a:spcAft>
                        <a:buClr>
                          <a:schemeClr val="dk2"/>
                        </a:buClr>
                        <a:buFont typeface="Arial"/>
                        <a:buNone/>
                      </a:pPr>
                      <a:r>
                        <a:rPr lang="en"/>
                        <a:t>Implications</a:t>
                      </a:r>
                      <a:endParaRPr/>
                    </a:p>
                  </a:txBody>
                  <a:tcPr marL="68600" marR="68600" marT="34300" marB="34300"/>
                </a:tc>
                <a:tc>
                  <a:txBody>
                    <a:bodyPr/>
                    <a:lstStyle/>
                    <a:p>
                      <a:pPr marL="0" marR="0" lvl="0" indent="0" algn="l" rtl="0">
                        <a:spcBef>
                          <a:spcPts val="0"/>
                        </a:spcBef>
                        <a:spcAft>
                          <a:spcPts val="0"/>
                        </a:spcAft>
                        <a:buNone/>
                      </a:pPr>
                      <a:r>
                        <a:rPr lang="en"/>
                        <a:t>Recommendations</a:t>
                      </a:r>
                      <a:endParaRPr sz="1100"/>
                    </a:p>
                  </a:txBody>
                  <a:tcPr marL="68600" marR="68600" marT="34300" marB="34300"/>
                </a:tc>
                <a:extLst>
                  <a:ext uri="{0D108BD9-81ED-4DB2-BD59-A6C34878D82A}">
                    <a16:rowId xmlns:a16="http://schemas.microsoft.com/office/drawing/2014/main" val="10000"/>
                  </a:ext>
                </a:extLst>
              </a:tr>
              <a:tr h="1726650">
                <a:tc>
                  <a:txBody>
                    <a:bodyPr/>
                    <a:lstStyle/>
                    <a:p>
                      <a:pPr marL="0" marR="0" lvl="0" indent="0" algn="l" rtl="0">
                        <a:spcBef>
                          <a:spcPts val="0"/>
                        </a:spcBef>
                        <a:spcAft>
                          <a:spcPts val="0"/>
                        </a:spcAft>
                        <a:buNone/>
                      </a:pPr>
                      <a:r>
                        <a:rPr lang="en"/>
                        <a:t>Occupation</a:t>
                      </a:r>
                      <a:endParaRPr sz="1400">
                        <a:solidFill>
                          <a:schemeClr val="dk1"/>
                        </a:solidFill>
                      </a:endParaRPr>
                    </a:p>
                  </a:txBody>
                  <a:tcPr marL="68600" marR="68600" marT="34300" marB="34300"/>
                </a:tc>
                <a:tc>
                  <a:txBody>
                    <a:bodyPr/>
                    <a:lstStyle/>
                    <a:p>
                      <a:pPr marL="0" marR="0" lvl="0" indent="0" algn="l" rtl="0">
                        <a:spcBef>
                          <a:spcPts val="0"/>
                        </a:spcBef>
                        <a:spcAft>
                          <a:spcPts val="0"/>
                        </a:spcAft>
                        <a:buNone/>
                      </a:pPr>
                      <a:r>
                        <a:rPr lang="en-US" sz="1400" dirty="0">
                          <a:solidFill>
                            <a:schemeClr val="dk1"/>
                          </a:solidFill>
                        </a:rPr>
                        <a:t>The feature occupation shows the highest importance, suggesting that a driver’s job significantly influences whether they accept the coupon and hence their amenity preferences</a:t>
                      </a:r>
                    </a:p>
                    <a:p>
                      <a:pPr marL="0" marR="0" lvl="0" indent="0" algn="l" rtl="0">
                        <a:spcBef>
                          <a:spcPts val="0"/>
                        </a:spcBef>
                        <a:spcAft>
                          <a:spcPts val="0"/>
                        </a:spcAft>
                        <a:buNone/>
                      </a:pPr>
                      <a:endParaRPr sz="1400" dirty="0">
                        <a:solidFill>
                          <a:schemeClr val="dk1"/>
                        </a:solidFill>
                      </a:endParaRPr>
                    </a:p>
                  </a:txBody>
                  <a:tcPr marL="68600" marR="68600" marT="34300" marB="34300"/>
                </a:tc>
                <a:tc>
                  <a:txBody>
                    <a:bodyPr/>
                    <a:lstStyle/>
                    <a:p>
                      <a:pPr marL="0" lvl="0" indent="0" algn="l" rtl="0">
                        <a:spcBef>
                          <a:spcPts val="0"/>
                        </a:spcBef>
                        <a:spcAft>
                          <a:spcPts val="0"/>
                        </a:spcAft>
                        <a:buNone/>
                      </a:pPr>
                      <a:r>
                        <a:rPr lang="en-US" sz="1400" dirty="0"/>
                        <a:t>Establish partnerships with affordable chains or local vendors that can provide cost-effective options. Offer special discounts or loyalty programs for repeat customers to encourage ongoing patronage.</a:t>
                      </a:r>
                    </a:p>
                    <a:p>
                      <a:pPr marL="0" lvl="0" indent="0" algn="l" rtl="0">
                        <a:spcBef>
                          <a:spcPts val="0"/>
                        </a:spcBef>
                        <a:spcAft>
                          <a:spcPts val="0"/>
                        </a:spcAft>
                        <a:buNone/>
                      </a:pPr>
                      <a:endParaRPr dirty="0"/>
                    </a:p>
                  </a:txBody>
                  <a:tcPr marL="68600" marR="68600" marT="34300" marB="34300"/>
                </a:tc>
                <a:extLst>
                  <a:ext uri="{0D108BD9-81ED-4DB2-BD59-A6C34878D82A}">
                    <a16:rowId xmlns:a16="http://schemas.microsoft.com/office/drawing/2014/main" val="10001"/>
                  </a:ext>
                </a:extLst>
              </a:tr>
              <a:tr h="1726650">
                <a:tc>
                  <a:txBody>
                    <a:bodyPr/>
                    <a:lstStyle/>
                    <a:p>
                      <a:pPr marL="0" lvl="0" indent="0" algn="l" rtl="0">
                        <a:spcBef>
                          <a:spcPts val="0"/>
                        </a:spcBef>
                        <a:spcAft>
                          <a:spcPts val="0"/>
                        </a:spcAft>
                        <a:buNone/>
                      </a:pPr>
                      <a:r>
                        <a:rPr lang="en"/>
                        <a:t>Coupon</a:t>
                      </a:r>
                      <a:endParaRPr/>
                    </a:p>
                    <a:p>
                      <a:pPr marL="0" lvl="0" indent="0" algn="l" rtl="0">
                        <a:spcBef>
                          <a:spcPts val="0"/>
                        </a:spcBef>
                        <a:spcAft>
                          <a:spcPts val="0"/>
                        </a:spcAft>
                        <a:buNone/>
                      </a:pPr>
                      <a:endParaRPr/>
                    </a:p>
                  </a:txBody>
                  <a:tcPr marL="68600" marR="68600" marT="34300" marB="34300"/>
                </a:tc>
                <a:tc>
                  <a:txBody>
                    <a:bodyPr/>
                    <a:lstStyle/>
                    <a:p>
                      <a:pPr marL="0" lvl="0" indent="0" algn="l" rtl="0">
                        <a:spcBef>
                          <a:spcPts val="0"/>
                        </a:spcBef>
                        <a:spcAft>
                          <a:spcPts val="0"/>
                        </a:spcAft>
                        <a:buNone/>
                      </a:pPr>
                      <a:r>
                        <a:rPr lang="en-US" sz="1600" dirty="0"/>
                        <a:t>The coupon and is also highly influential in this dataset, which can show the preference for the amenity</a:t>
                      </a:r>
                    </a:p>
                    <a:p>
                      <a:pPr marL="0" lvl="0" indent="0" algn="l" rtl="0">
                        <a:spcBef>
                          <a:spcPts val="0"/>
                        </a:spcBef>
                        <a:spcAft>
                          <a:spcPts val="0"/>
                        </a:spcAft>
                        <a:buNone/>
                      </a:pPr>
                      <a:endParaRPr dirty="0"/>
                    </a:p>
                  </a:txBody>
                  <a:tcPr marL="68600" marR="68600" marT="34300" marB="34300"/>
                </a:tc>
                <a:tc>
                  <a:txBody>
                    <a:bodyPr/>
                    <a:lstStyle/>
                    <a:p>
                      <a:pPr marL="0" lvl="0" indent="0" algn="l" rtl="0">
                        <a:spcBef>
                          <a:spcPts val="0"/>
                        </a:spcBef>
                        <a:spcAft>
                          <a:spcPts val="0"/>
                        </a:spcAft>
                        <a:buNone/>
                      </a:pPr>
                      <a:r>
                        <a:rPr lang="en-US" sz="1400" dirty="0"/>
                        <a:t>Since coffee houses are popular, providing a premium coffee experience could be a significant draw. That will be a good advice that building more coffeehouse with a range of options from standard brews to specialty drinks</a:t>
                      </a:r>
                    </a:p>
                    <a:p>
                      <a:pPr marL="0" lvl="0" indent="0" algn="l" rtl="0">
                        <a:spcBef>
                          <a:spcPts val="0"/>
                        </a:spcBef>
                        <a:spcAft>
                          <a:spcPts val="0"/>
                        </a:spcAft>
                        <a:buNone/>
                      </a:pPr>
                      <a:endParaRPr dirty="0"/>
                    </a:p>
                  </a:txBody>
                  <a:tcPr marL="68600" marR="68600" marT="34300" marB="34300"/>
                </a:tc>
                <a:extLst>
                  <a:ext uri="{0D108BD9-81ED-4DB2-BD59-A6C34878D82A}">
                    <a16:rowId xmlns:a16="http://schemas.microsoft.com/office/drawing/2014/main" val="10002"/>
                  </a:ext>
                </a:extLst>
              </a:tr>
              <a:tr h="1325441">
                <a:tc>
                  <a:txBody>
                    <a:bodyPr/>
                    <a:lstStyle/>
                    <a:p>
                      <a:pPr marL="0" marR="0" lvl="0" indent="0" algn="l" rtl="0">
                        <a:lnSpc>
                          <a:spcPct val="100000"/>
                        </a:lnSpc>
                        <a:spcBef>
                          <a:spcPts val="0"/>
                        </a:spcBef>
                        <a:spcAft>
                          <a:spcPts val="0"/>
                        </a:spcAft>
                        <a:buClr>
                          <a:schemeClr val="dk1"/>
                        </a:buClr>
                        <a:buSzPts val="1400"/>
                        <a:buFont typeface="Book Antiqua"/>
                        <a:buNone/>
                      </a:pPr>
                      <a:r>
                        <a:rPr lang="en" dirty="0"/>
                        <a:t>income</a:t>
                      </a:r>
                      <a:endParaRPr sz="1400" dirty="0">
                        <a:solidFill>
                          <a:schemeClr val="dk1"/>
                        </a:solidFill>
                      </a:endParaRPr>
                    </a:p>
                  </a:txBody>
                  <a:tcPr marL="68600" marR="68600" marT="34300" marB="34300"/>
                </a:tc>
                <a:tc>
                  <a:txBody>
                    <a:bodyPr/>
                    <a:lstStyle/>
                    <a:p>
                      <a:pPr marL="0" marR="0" lvl="0" indent="0" algn="l" rtl="0">
                        <a:lnSpc>
                          <a:spcPct val="100000"/>
                        </a:lnSpc>
                        <a:spcBef>
                          <a:spcPts val="0"/>
                        </a:spcBef>
                        <a:spcAft>
                          <a:spcPts val="0"/>
                        </a:spcAft>
                        <a:buNone/>
                      </a:pPr>
                      <a:r>
                        <a:rPr lang="en-US" sz="1400" dirty="0">
                          <a:solidFill>
                            <a:schemeClr val="dk1"/>
                          </a:solidFill>
                        </a:rPr>
                        <a:t>Showing that financial considerations affect amenity preferences</a:t>
                      </a:r>
                    </a:p>
                    <a:p>
                      <a:pPr marL="0" marR="0" lvl="0" indent="0" algn="l" rtl="0">
                        <a:lnSpc>
                          <a:spcPct val="100000"/>
                        </a:lnSpc>
                        <a:spcBef>
                          <a:spcPts val="0"/>
                        </a:spcBef>
                        <a:spcAft>
                          <a:spcPts val="0"/>
                        </a:spcAft>
                        <a:buNone/>
                      </a:pPr>
                      <a:endParaRPr sz="1400" dirty="0">
                        <a:solidFill>
                          <a:schemeClr val="dk1"/>
                        </a:solidFill>
                      </a:endParaRPr>
                    </a:p>
                  </a:txBody>
                  <a:tcPr marL="68600" marR="68600" marT="34300" marB="34300"/>
                </a:tc>
                <a:tc>
                  <a:txBody>
                    <a:bodyPr/>
                    <a:lstStyle/>
                    <a:p>
                      <a:pPr marL="0" lvl="0" indent="0" algn="l" rtl="0">
                        <a:spcBef>
                          <a:spcPts val="0"/>
                        </a:spcBef>
                        <a:spcAft>
                          <a:spcPts val="0"/>
                        </a:spcAft>
                        <a:buNone/>
                      </a:pPr>
                      <a:r>
                        <a:rPr lang="en-US" sz="1400" dirty="0"/>
                        <a:t>Collaborate with popular mid-range amenity chains or support local eateries that can provide quality product at prices that align with middle-income budgets.</a:t>
                      </a:r>
                    </a:p>
                    <a:p>
                      <a:pPr marL="0" lvl="0" indent="0" algn="l" rtl="0">
                        <a:spcBef>
                          <a:spcPts val="0"/>
                        </a:spcBef>
                        <a:spcAft>
                          <a:spcPts val="0"/>
                        </a:spcAft>
                        <a:buNone/>
                      </a:pPr>
                      <a:endParaRPr dirty="0"/>
                    </a:p>
                  </a:txBody>
                  <a:tcPr marL="68600" marR="68600" marT="34300" marB="34300"/>
                </a:tc>
                <a:extLst>
                  <a:ext uri="{0D108BD9-81ED-4DB2-BD59-A6C34878D82A}">
                    <a16:rowId xmlns:a16="http://schemas.microsoft.com/office/drawing/2014/main" val="10003"/>
                  </a:ext>
                </a:extLst>
              </a:tr>
            </a:tbl>
          </a:graphicData>
        </a:graphic>
      </p:graphicFrame>
      <p:sp>
        <p:nvSpPr>
          <p:cNvPr id="5" name="Title 1">
            <a:extLst>
              <a:ext uri="{FF2B5EF4-FFF2-40B4-BE49-F238E27FC236}">
                <a16:creationId xmlns:a16="http://schemas.microsoft.com/office/drawing/2014/main" id="{84642FE7-0458-5B26-E58B-450E5048A295}"/>
              </a:ext>
            </a:extLst>
          </p:cNvPr>
          <p:cNvSpPr>
            <a:spLocks noGrp="1"/>
          </p:cNvSpPr>
          <p:nvPr>
            <p:ph type="title"/>
          </p:nvPr>
        </p:nvSpPr>
        <p:spPr>
          <a:xfrm>
            <a:off x="1295400" y="255134"/>
            <a:ext cx="9601200" cy="1036850"/>
          </a:xfrm>
        </p:spPr>
        <p:txBody>
          <a:bodyPr/>
          <a:lstStyle/>
          <a:p>
            <a:r>
              <a:rPr lang="en-US" dirty="0"/>
              <a:t>Implications and Recommendations - I</a:t>
            </a:r>
          </a:p>
        </p:txBody>
      </p:sp>
    </p:spTree>
    <p:extLst>
      <p:ext uri="{BB962C8B-B14F-4D97-AF65-F5344CB8AC3E}">
        <p14:creationId xmlns:p14="http://schemas.microsoft.com/office/powerpoint/2010/main" val="1496730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245;p38">
            <a:extLst>
              <a:ext uri="{FF2B5EF4-FFF2-40B4-BE49-F238E27FC236}">
                <a16:creationId xmlns:a16="http://schemas.microsoft.com/office/drawing/2014/main" id="{687D4393-FBCA-75AC-DE7D-4C88C9B97828}"/>
              </a:ext>
            </a:extLst>
          </p:cNvPr>
          <p:cNvGraphicFramePr/>
          <p:nvPr>
            <p:extLst>
              <p:ext uri="{D42A27DB-BD31-4B8C-83A1-F6EECF244321}">
                <p14:modId xmlns:p14="http://schemas.microsoft.com/office/powerpoint/2010/main" val="3924261659"/>
              </p:ext>
            </p:extLst>
          </p:nvPr>
        </p:nvGraphicFramePr>
        <p:xfrm>
          <a:off x="1502266" y="2144717"/>
          <a:ext cx="9004190" cy="3872473"/>
        </p:xfrm>
        <a:graphic>
          <a:graphicData uri="http://schemas.openxmlformats.org/drawingml/2006/table">
            <a:tbl>
              <a:tblPr firstRow="1" bandRow="1">
                <a:tableStyleId>{E8B1032C-EA38-4F05-BA0D-38AFFFC7BED3}</a:tableStyleId>
              </a:tblPr>
              <a:tblGrid>
                <a:gridCol w="2310895">
                  <a:extLst>
                    <a:ext uri="{9D8B030D-6E8A-4147-A177-3AD203B41FA5}">
                      <a16:colId xmlns:a16="http://schemas.microsoft.com/office/drawing/2014/main" val="20000"/>
                    </a:ext>
                  </a:extLst>
                </a:gridCol>
                <a:gridCol w="3138498">
                  <a:extLst>
                    <a:ext uri="{9D8B030D-6E8A-4147-A177-3AD203B41FA5}">
                      <a16:colId xmlns:a16="http://schemas.microsoft.com/office/drawing/2014/main" val="20001"/>
                    </a:ext>
                  </a:extLst>
                </a:gridCol>
                <a:gridCol w="3554797">
                  <a:extLst>
                    <a:ext uri="{9D8B030D-6E8A-4147-A177-3AD203B41FA5}">
                      <a16:colId xmlns:a16="http://schemas.microsoft.com/office/drawing/2014/main" val="20002"/>
                    </a:ext>
                  </a:extLst>
                </a:gridCol>
              </a:tblGrid>
              <a:tr h="419173">
                <a:tc>
                  <a:txBody>
                    <a:bodyPr/>
                    <a:lstStyle/>
                    <a:p>
                      <a:pPr marL="0" marR="0" lvl="0" indent="0" algn="l" rtl="0">
                        <a:spcBef>
                          <a:spcPts val="0"/>
                        </a:spcBef>
                        <a:spcAft>
                          <a:spcPts val="0"/>
                        </a:spcAft>
                        <a:buNone/>
                      </a:pPr>
                      <a:r>
                        <a:rPr lang="en" sz="1600" dirty="0"/>
                        <a:t>Important Variable</a:t>
                      </a:r>
                      <a:endParaRPr sz="1100" dirty="0"/>
                    </a:p>
                  </a:txBody>
                  <a:tcPr marL="68600" marR="68600" marT="34300" marB="34300"/>
                </a:tc>
                <a:tc>
                  <a:txBody>
                    <a:bodyPr/>
                    <a:lstStyle/>
                    <a:p>
                      <a:pPr marL="0" lvl="0" indent="0" algn="l" rtl="0">
                        <a:spcBef>
                          <a:spcPts val="0"/>
                        </a:spcBef>
                        <a:spcAft>
                          <a:spcPts val="0"/>
                        </a:spcAft>
                        <a:buClr>
                          <a:schemeClr val="dk2"/>
                        </a:buClr>
                        <a:buFont typeface="Arial"/>
                        <a:buNone/>
                      </a:pPr>
                      <a:r>
                        <a:rPr lang="en"/>
                        <a:t>Implications</a:t>
                      </a:r>
                      <a:endParaRPr/>
                    </a:p>
                  </a:txBody>
                  <a:tcPr marL="68600" marR="68600" marT="34300" marB="34300"/>
                </a:tc>
                <a:tc>
                  <a:txBody>
                    <a:bodyPr/>
                    <a:lstStyle/>
                    <a:p>
                      <a:pPr marL="0" marR="0" lvl="0" indent="0" algn="l" rtl="0">
                        <a:spcBef>
                          <a:spcPts val="0"/>
                        </a:spcBef>
                        <a:spcAft>
                          <a:spcPts val="0"/>
                        </a:spcAft>
                        <a:buNone/>
                      </a:pPr>
                      <a:r>
                        <a:rPr lang="en"/>
                        <a:t>Recommendations</a:t>
                      </a:r>
                      <a:endParaRPr sz="1100"/>
                    </a:p>
                  </a:txBody>
                  <a:tcPr marL="68600" marR="68600" marT="34300" marB="34300"/>
                </a:tc>
                <a:extLst>
                  <a:ext uri="{0D108BD9-81ED-4DB2-BD59-A6C34878D82A}">
                    <a16:rowId xmlns:a16="http://schemas.microsoft.com/office/drawing/2014/main" val="10000"/>
                  </a:ext>
                </a:extLst>
              </a:tr>
              <a:tr h="1726650">
                <a:tc>
                  <a:txBody>
                    <a:bodyPr/>
                    <a:lstStyle/>
                    <a:p>
                      <a:pPr marL="0" marR="0" lvl="0" indent="0" algn="l" rtl="0">
                        <a:spcBef>
                          <a:spcPts val="0"/>
                        </a:spcBef>
                        <a:spcAft>
                          <a:spcPts val="0"/>
                        </a:spcAft>
                        <a:buNone/>
                      </a:pPr>
                      <a:r>
                        <a:rPr lang="en-US" dirty="0"/>
                        <a:t>Education</a:t>
                      </a:r>
                      <a:endParaRPr sz="1400" dirty="0">
                        <a:solidFill>
                          <a:schemeClr val="dk1"/>
                        </a:solidFill>
                      </a:endParaRPr>
                    </a:p>
                  </a:txBody>
                  <a:tcPr marL="68600" marR="68600" marT="34300" marB="34300"/>
                </a:tc>
                <a:tc>
                  <a:txBody>
                    <a:bodyPr/>
                    <a:lstStyle/>
                    <a:p>
                      <a:pPr marL="0" marR="0" lvl="0" indent="0" algn="l" rtl="0">
                        <a:spcBef>
                          <a:spcPts val="0"/>
                        </a:spcBef>
                        <a:spcAft>
                          <a:spcPts val="0"/>
                        </a:spcAft>
                        <a:buNone/>
                      </a:pPr>
                      <a:r>
                        <a:rPr lang="en-US" sz="1400" dirty="0">
                          <a:solidFill>
                            <a:schemeClr val="dk1"/>
                          </a:solidFill>
                        </a:rPr>
                        <a:t>Education is the fourth important factor influence.</a:t>
                      </a:r>
                      <a:endParaRPr sz="1400" dirty="0">
                        <a:solidFill>
                          <a:schemeClr val="dk1"/>
                        </a:solidFill>
                      </a:endParaRPr>
                    </a:p>
                  </a:txBody>
                  <a:tcPr marL="68600" marR="68600" marT="34300" marB="34300"/>
                </a:tc>
                <a:tc>
                  <a:txBody>
                    <a:bodyPr/>
                    <a:lstStyle/>
                    <a:p>
                      <a:pPr marL="0" lvl="0" indent="0" algn="l" rtl="0">
                        <a:spcBef>
                          <a:spcPts val="0"/>
                        </a:spcBef>
                        <a:spcAft>
                          <a:spcPts val="0"/>
                        </a:spcAft>
                        <a:buNone/>
                      </a:pPr>
                      <a:r>
                        <a:rPr lang="en-US" sz="1400" dirty="0"/>
                        <a:t>Most people are around bachelor degree and less, we can make coupon rule more straightforward and directly.</a:t>
                      </a:r>
                    </a:p>
                    <a:p>
                      <a:pPr marL="0" lvl="0" indent="0" algn="l" rtl="0">
                        <a:spcBef>
                          <a:spcPts val="0"/>
                        </a:spcBef>
                        <a:spcAft>
                          <a:spcPts val="0"/>
                        </a:spcAft>
                        <a:buNone/>
                      </a:pPr>
                      <a:endParaRPr dirty="0"/>
                    </a:p>
                  </a:txBody>
                  <a:tcPr marL="68600" marR="68600" marT="34300" marB="34300"/>
                </a:tc>
                <a:extLst>
                  <a:ext uri="{0D108BD9-81ED-4DB2-BD59-A6C34878D82A}">
                    <a16:rowId xmlns:a16="http://schemas.microsoft.com/office/drawing/2014/main" val="10001"/>
                  </a:ext>
                </a:extLst>
              </a:tr>
              <a:tr h="1726650">
                <a:tc>
                  <a:txBody>
                    <a:bodyPr/>
                    <a:lstStyle/>
                    <a:p>
                      <a:pPr marL="0" lvl="0" indent="0" algn="l" rtl="0">
                        <a:spcBef>
                          <a:spcPts val="0"/>
                        </a:spcBef>
                        <a:spcAft>
                          <a:spcPts val="0"/>
                        </a:spcAft>
                        <a:buNone/>
                      </a:pPr>
                      <a:r>
                        <a:rPr lang="en" dirty="0"/>
                        <a:t>Time of day</a:t>
                      </a:r>
                      <a:endParaRPr dirty="0"/>
                    </a:p>
                    <a:p>
                      <a:pPr marL="0" lvl="0" indent="0" algn="l" rtl="0">
                        <a:spcBef>
                          <a:spcPts val="0"/>
                        </a:spcBef>
                        <a:spcAft>
                          <a:spcPts val="0"/>
                        </a:spcAft>
                        <a:buNone/>
                      </a:pPr>
                      <a:endParaRPr dirty="0"/>
                    </a:p>
                  </a:txBody>
                  <a:tcPr marL="68600" marR="68600" marT="34300" marB="34300"/>
                </a:tc>
                <a:tc>
                  <a:txBody>
                    <a:bodyPr/>
                    <a:lstStyle/>
                    <a:p>
                      <a:pPr marL="0" lvl="0" indent="0" algn="l" rtl="0">
                        <a:spcBef>
                          <a:spcPts val="0"/>
                        </a:spcBef>
                        <a:spcAft>
                          <a:spcPts val="0"/>
                        </a:spcAft>
                        <a:buNone/>
                      </a:pPr>
                      <a:r>
                        <a:rPr lang="en-US" sz="1600" dirty="0"/>
                        <a:t>The acceptance of a coupon varies with the time when the driver is traveling.</a:t>
                      </a:r>
                    </a:p>
                    <a:p>
                      <a:pPr marL="0" lvl="0" indent="0" algn="l" rtl="0">
                        <a:spcBef>
                          <a:spcPts val="0"/>
                        </a:spcBef>
                        <a:spcAft>
                          <a:spcPts val="0"/>
                        </a:spcAft>
                        <a:buNone/>
                      </a:pPr>
                      <a:endParaRPr dirty="0"/>
                    </a:p>
                  </a:txBody>
                  <a:tcPr marL="68600" marR="68600" marT="34300" marB="34300"/>
                </a:tc>
                <a:tc>
                  <a:txBody>
                    <a:bodyPr/>
                    <a:lstStyle/>
                    <a:p>
                      <a:pPr marL="0" lvl="0" indent="0" algn="l" rtl="0">
                        <a:spcBef>
                          <a:spcPts val="0"/>
                        </a:spcBef>
                        <a:spcAft>
                          <a:spcPts val="0"/>
                        </a:spcAft>
                        <a:buNone/>
                      </a:pPr>
                      <a:r>
                        <a:rPr lang="en-US" sz="1400" dirty="0"/>
                        <a:t>Consider the operational hours of the amenities. Based on the bar chart, we recommend the operational time is from 7am to 6pm</a:t>
                      </a:r>
                    </a:p>
                    <a:p>
                      <a:pPr marL="0" lvl="0" indent="0" algn="l" rtl="0">
                        <a:spcBef>
                          <a:spcPts val="0"/>
                        </a:spcBef>
                        <a:spcAft>
                          <a:spcPts val="0"/>
                        </a:spcAft>
                        <a:buNone/>
                      </a:pPr>
                      <a:endParaRPr dirty="0"/>
                    </a:p>
                  </a:txBody>
                  <a:tcPr marL="68600" marR="68600" marT="34300" marB="34300"/>
                </a:tc>
                <a:extLst>
                  <a:ext uri="{0D108BD9-81ED-4DB2-BD59-A6C34878D82A}">
                    <a16:rowId xmlns:a16="http://schemas.microsoft.com/office/drawing/2014/main" val="10002"/>
                  </a:ext>
                </a:extLst>
              </a:tr>
            </a:tbl>
          </a:graphicData>
        </a:graphic>
      </p:graphicFrame>
      <p:sp>
        <p:nvSpPr>
          <p:cNvPr id="2" name="Title 1">
            <a:extLst>
              <a:ext uri="{FF2B5EF4-FFF2-40B4-BE49-F238E27FC236}">
                <a16:creationId xmlns:a16="http://schemas.microsoft.com/office/drawing/2014/main" id="{7887B376-15B1-84F9-C424-0A2D8C57EF36}"/>
              </a:ext>
            </a:extLst>
          </p:cNvPr>
          <p:cNvSpPr>
            <a:spLocks noGrp="1"/>
          </p:cNvSpPr>
          <p:nvPr>
            <p:ph type="title"/>
          </p:nvPr>
        </p:nvSpPr>
        <p:spPr>
          <a:xfrm>
            <a:off x="1295400" y="255134"/>
            <a:ext cx="9601200" cy="1036850"/>
          </a:xfrm>
        </p:spPr>
        <p:txBody>
          <a:bodyPr/>
          <a:lstStyle/>
          <a:p>
            <a:r>
              <a:rPr lang="en-US" dirty="0"/>
              <a:t>Implications and Recommendations - II</a:t>
            </a:r>
          </a:p>
        </p:txBody>
      </p:sp>
    </p:spTree>
    <p:extLst>
      <p:ext uri="{BB962C8B-B14F-4D97-AF65-F5344CB8AC3E}">
        <p14:creationId xmlns:p14="http://schemas.microsoft.com/office/powerpoint/2010/main" val="422546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E4CBEA-97BF-ECAA-0B0F-F14BD5DC8196}"/>
              </a:ext>
            </a:extLst>
          </p:cNvPr>
          <p:cNvSpPr txBox="1">
            <a:spLocks/>
          </p:cNvSpPr>
          <p:nvPr/>
        </p:nvSpPr>
        <p:spPr>
          <a:xfrm>
            <a:off x="582169" y="76026"/>
            <a:ext cx="5120640" cy="137253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dirty="0"/>
              <a:t>Thank you</a:t>
            </a:r>
          </a:p>
        </p:txBody>
      </p:sp>
      <p:pic>
        <p:nvPicPr>
          <p:cNvPr id="7" name="Picture 6">
            <a:extLst>
              <a:ext uri="{FF2B5EF4-FFF2-40B4-BE49-F238E27FC236}">
                <a16:creationId xmlns:a16="http://schemas.microsoft.com/office/drawing/2014/main" id="{FBB51CD8-CAF7-C8AD-3AE4-121DB8CA8A5F}"/>
              </a:ext>
            </a:extLst>
          </p:cNvPr>
          <p:cNvPicPr>
            <a:picLocks noChangeAspect="1"/>
          </p:cNvPicPr>
          <p:nvPr/>
        </p:nvPicPr>
        <p:blipFill>
          <a:blip r:embed="rId2"/>
          <a:stretch>
            <a:fillRect/>
          </a:stretch>
        </p:blipFill>
        <p:spPr>
          <a:xfrm>
            <a:off x="509779" y="2305240"/>
            <a:ext cx="3181350" cy="4295775"/>
          </a:xfrm>
          <a:prstGeom prst="rect">
            <a:avLst/>
          </a:prstGeom>
        </p:spPr>
      </p:pic>
      <p:pic>
        <p:nvPicPr>
          <p:cNvPr id="9" name="Picture 8">
            <a:extLst>
              <a:ext uri="{FF2B5EF4-FFF2-40B4-BE49-F238E27FC236}">
                <a16:creationId xmlns:a16="http://schemas.microsoft.com/office/drawing/2014/main" id="{7F101071-BCBD-A9FF-8E91-C38F3BBB2C95}"/>
              </a:ext>
            </a:extLst>
          </p:cNvPr>
          <p:cNvPicPr>
            <a:picLocks noChangeAspect="1"/>
          </p:cNvPicPr>
          <p:nvPr/>
        </p:nvPicPr>
        <p:blipFill>
          <a:blip r:embed="rId3"/>
          <a:stretch>
            <a:fillRect/>
          </a:stretch>
        </p:blipFill>
        <p:spPr>
          <a:xfrm>
            <a:off x="5177599" y="2856738"/>
            <a:ext cx="3171825" cy="2552700"/>
          </a:xfrm>
          <a:prstGeom prst="rect">
            <a:avLst/>
          </a:prstGeom>
        </p:spPr>
      </p:pic>
    </p:spTree>
    <p:extLst>
      <p:ext uri="{BB962C8B-B14F-4D97-AF65-F5344CB8AC3E}">
        <p14:creationId xmlns:p14="http://schemas.microsoft.com/office/powerpoint/2010/main" val="3411944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les Direction 16X9">
  <a:themeElements>
    <a:clrScheme name="SalesDirection">
      <a:dk1>
        <a:srgbClr val="595959"/>
      </a:dk1>
      <a:lt1>
        <a:sysClr val="window" lastClr="FFFFFF"/>
      </a:lt1>
      <a:dk2>
        <a:srgbClr val="000000"/>
      </a:dk2>
      <a:lt2>
        <a:srgbClr val="F2F2F2"/>
      </a:lt2>
      <a:accent1>
        <a:srgbClr val="1EB8C1"/>
      </a:accent1>
      <a:accent2>
        <a:srgbClr val="EF7920"/>
      </a:accent2>
      <a:accent3>
        <a:srgbClr val="EFC119"/>
      </a:accent3>
      <a:accent4>
        <a:srgbClr val="969890"/>
      </a:accent4>
      <a:accent5>
        <a:srgbClr val="50B4F2"/>
      </a:accent5>
      <a:accent6>
        <a:srgbClr val="C05A3A"/>
      </a:accent6>
      <a:hlink>
        <a:srgbClr val="EFC119"/>
      </a:hlink>
      <a:folHlink>
        <a:srgbClr val="969890"/>
      </a:folHlink>
    </a:clrScheme>
    <a:fontScheme name="Book Antiqua">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rection presentation (widescreen).potx" id="{D17AB31B-F25B-45F4-B34E-C6982D129A29}" vid="{B63A7B92-8C2A-4E6A-9062-768A2448E61C}"/>
    </a:ext>
  </a:extLst>
</a:theme>
</file>

<file path=ppt/theme/theme2.xml><?xml version="1.0" encoding="utf-8"?>
<a:theme xmlns:a="http://schemas.openxmlformats.org/drawingml/2006/main" name="Office Theme">
  <a:themeElements>
    <a:clrScheme name="SalesDirection">
      <a:dk1>
        <a:srgbClr val="595959"/>
      </a:dk1>
      <a:lt1>
        <a:sysClr val="window" lastClr="FFFFFF"/>
      </a:lt1>
      <a:dk2>
        <a:srgbClr val="000000"/>
      </a:dk2>
      <a:lt2>
        <a:srgbClr val="F2F2F2"/>
      </a:lt2>
      <a:accent1>
        <a:srgbClr val="1EB8C1"/>
      </a:accent1>
      <a:accent2>
        <a:srgbClr val="EF7920"/>
      </a:accent2>
      <a:accent3>
        <a:srgbClr val="EFC119"/>
      </a:accent3>
      <a:accent4>
        <a:srgbClr val="969890"/>
      </a:accent4>
      <a:accent5>
        <a:srgbClr val="50B4F2"/>
      </a:accent5>
      <a:accent6>
        <a:srgbClr val="C05A3A"/>
      </a:accent6>
      <a:hlink>
        <a:srgbClr val="EFC119"/>
      </a:hlink>
      <a:folHlink>
        <a:srgbClr val="969890"/>
      </a:folHlink>
    </a:clrScheme>
    <a:fontScheme name="Book Antiqua">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alesDirection">
      <a:dk1>
        <a:srgbClr val="595959"/>
      </a:dk1>
      <a:lt1>
        <a:sysClr val="window" lastClr="FFFFFF"/>
      </a:lt1>
      <a:dk2>
        <a:srgbClr val="000000"/>
      </a:dk2>
      <a:lt2>
        <a:srgbClr val="F2F2F2"/>
      </a:lt2>
      <a:accent1>
        <a:srgbClr val="1EB8C1"/>
      </a:accent1>
      <a:accent2>
        <a:srgbClr val="EF7920"/>
      </a:accent2>
      <a:accent3>
        <a:srgbClr val="EFC119"/>
      </a:accent3>
      <a:accent4>
        <a:srgbClr val="969890"/>
      </a:accent4>
      <a:accent5>
        <a:srgbClr val="50B4F2"/>
      </a:accent5>
      <a:accent6>
        <a:srgbClr val="C05A3A"/>
      </a:accent6>
      <a:hlink>
        <a:srgbClr val="EFC119"/>
      </a:hlink>
      <a:folHlink>
        <a:srgbClr val="969890"/>
      </a:folHlink>
    </a:clrScheme>
    <a:fontScheme name="Book Antiqua">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direction presentation (widescreen)</Template>
  <TotalTime>1632</TotalTime>
  <Words>1237</Words>
  <Application>Microsoft Office PowerPoint</Application>
  <PresentationFormat>Widescreen</PresentationFormat>
  <Paragraphs>192</Paragraphs>
  <Slides>19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Book Antiqua</vt:lpstr>
      <vt:lpstr>Montserrat</vt:lpstr>
      <vt:lpstr>Söhne</vt:lpstr>
      <vt:lpstr>Sales Direction 16X9</vt:lpstr>
      <vt:lpstr>Highway Amenities Prediction</vt:lpstr>
      <vt:lpstr>Business Case</vt:lpstr>
      <vt:lpstr>Methodology and Work Flow</vt:lpstr>
      <vt:lpstr>Data Review</vt:lpstr>
      <vt:lpstr>Data Review</vt:lpstr>
      <vt:lpstr>EDA</vt:lpstr>
      <vt:lpstr>EDA-I</vt:lpstr>
      <vt:lpstr>EDA-II</vt:lpstr>
      <vt:lpstr>EDA-II</vt:lpstr>
      <vt:lpstr>Feature Engineering</vt:lpstr>
      <vt:lpstr>Feature Engineering</vt:lpstr>
      <vt:lpstr>Feature Engineering </vt:lpstr>
      <vt:lpstr>Model Review, Comparison &amp; Interpretation</vt:lpstr>
      <vt:lpstr>Model Review</vt:lpstr>
      <vt:lpstr>Selected Model and Feature of Importance</vt:lpstr>
      <vt:lpstr>Implications &amp; Recommendations</vt:lpstr>
      <vt:lpstr>Implications and Recommendations - I</vt:lpstr>
      <vt:lpstr>Implications and Recommendations - II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Personality Analysis</dc:title>
  <dc:creator>Kshitij Kamat</dc:creator>
  <cp:lastModifiedBy>Kshitij Kamat</cp:lastModifiedBy>
  <cp:revision>20</cp:revision>
  <dcterms:created xsi:type="dcterms:W3CDTF">2024-03-01T14:44:27Z</dcterms:created>
  <dcterms:modified xsi:type="dcterms:W3CDTF">2024-04-20T01:40:02Z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